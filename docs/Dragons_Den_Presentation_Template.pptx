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  <p:sldId id="263" r:id="rId16"/>
    <p:sldId id="265" r:id="rId15"/>
    <p:sldId id="26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D8ED70-BFFB-4D98-9196-9D20B17EDB9D}" v="8" dt="2026-07-31T16:05:57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5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adyan" userId="d6051f5d-5031-43da-9fd2-87de6df243b0" providerId="ADAL" clId="{CF1C6EEC-0A29-42D8-A6EF-898A4BA81E50}"/>
    <pc:docChg chg="undo custSel modSld">
      <pc:chgData name="Abhinav Kadyan" userId="d6051f5d-5031-43da-9fd2-87de6df243b0" providerId="ADAL" clId="{CF1C6EEC-0A29-42D8-A6EF-898A4BA81E50}" dt="2026-07-31T16:06:34.247" v="98" actId="6549"/>
      <pc:docMkLst>
        <pc:docMk/>
      </pc:docMkLst>
      <pc:sldChg chg="modSp mod">
        <pc:chgData name="Abhinav Kadyan" userId="d6051f5d-5031-43da-9fd2-87de6df243b0" providerId="ADAL" clId="{CF1C6EEC-0A29-42D8-A6EF-898A4BA81E50}" dt="2026-07-31T14:53:57.655" v="14" actId="27636"/>
        <pc:sldMkLst>
          <pc:docMk/>
          <pc:sldMk cId="0" sldId="256"/>
        </pc:sldMkLst>
        <pc:spChg chg="mod">
          <ac:chgData name="Abhinav Kadyan" userId="d6051f5d-5031-43da-9fd2-87de6df243b0" providerId="ADAL" clId="{CF1C6EEC-0A29-42D8-A6EF-898A4BA81E50}" dt="2026-07-31T14:53:57.639" v="11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39" v="9" actId="2763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39" v="10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4" actId="276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2" actId="2763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3:57.655" v="13" actId="27636"/>
          <ac:spMkLst>
            <pc:docMk/>
            <pc:sldMk cId="0" sldId="256"/>
            <ac:spMk id="37" creationId="{00000000-0000-0000-0000-000000000000}"/>
          </ac:spMkLst>
        </pc:spChg>
      </pc:sldChg>
      <pc:sldChg chg="addSp delSp modSp mod">
        <pc:chgData name="Abhinav Kadyan" userId="d6051f5d-5031-43da-9fd2-87de6df243b0" providerId="ADAL" clId="{CF1C6EEC-0A29-42D8-A6EF-898A4BA81E50}" dt="2026-07-31T14:54:39.037" v="22" actId="20577"/>
        <pc:sldMkLst>
          <pc:docMk/>
          <pc:sldMk cId="0" sldId="257"/>
        </pc:sldMkLst>
        <pc:spChg chg="mod">
          <ac:chgData name="Abhinav Kadyan" userId="d6051f5d-5031-43da-9fd2-87de6df243b0" providerId="ADAL" clId="{CF1C6EEC-0A29-42D8-A6EF-898A4BA81E50}" dt="2026-07-31T14:53:57.625" v="8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4:54:39.037" v="22" actId="20577"/>
          <ac:spMkLst>
            <pc:docMk/>
            <pc:sldMk cId="0" sldId="257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1.801" v="0" actId="478"/>
          <ac:spMkLst>
            <pc:docMk/>
            <pc:sldMk cId="0" sldId="257"/>
            <ac:spMk id="7" creationId="{00000000-0000-0000-0000-000000000000}"/>
          </ac:spMkLst>
        </pc:spChg>
        <pc:spChg chg="add del">
          <ac:chgData name="Abhinav Kadyan" userId="d6051f5d-5031-43da-9fd2-87de6df243b0" providerId="ADAL" clId="{CF1C6EEC-0A29-42D8-A6EF-898A4BA81E50}" dt="2026-07-31T14:53:28.831" v="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4.966" v="1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6.270" v="2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0.286" v="4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19.034" v="3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3:23.683" v="5" actId="478"/>
          <ac:spMkLst>
            <pc:docMk/>
            <pc:sldMk cId="0" sldId="257"/>
            <ac:spMk id="27" creationId="{00000000-0000-0000-0000-000000000000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26.776" v="96" actId="6549"/>
        <pc:sldMkLst>
          <pc:docMk/>
          <pc:sldMk cId="0" sldId="258"/>
        </pc:sldMkLst>
        <pc:spChg chg="mod">
          <ac:chgData name="Abhinav Kadyan" userId="d6051f5d-5031-43da-9fd2-87de6df243b0" providerId="ADAL" clId="{CF1C6EEC-0A29-42D8-A6EF-898A4BA81E50}" dt="2026-07-31T14:55:11.578" v="31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26.776" v="96" actId="6549"/>
          <ac:spMkLst>
            <pc:docMk/>
            <pc:sldMk cId="0" sldId="258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48.511" v="23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5.074" v="26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2.990" v="25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7.270" v="28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6.407" v="27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4:54:51.574" v="24" actId="478"/>
          <ac:spMkLst>
            <pc:docMk/>
            <pc:sldMk cId="0" sldId="258"/>
            <ac:spMk id="25" creationId="{00000000-0000-0000-0000-000000000000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31.442" v="97" actId="6549"/>
        <pc:sldMkLst>
          <pc:docMk/>
          <pc:sldMk cId="0" sldId="259"/>
        </pc:sldMkLst>
        <pc:spChg chg="mod">
          <ac:chgData name="Abhinav Kadyan" userId="d6051f5d-5031-43da-9fd2-87de6df243b0" providerId="ADAL" clId="{CF1C6EEC-0A29-42D8-A6EF-898A4BA81E50}" dt="2026-07-31T16:04:54.708" v="54"/>
          <ac:spMkLst>
            <pc:docMk/>
            <pc:sldMk cId="0" sldId="259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31.442" v="97" actId="6549"/>
          <ac:spMkLst>
            <pc:docMk/>
            <pc:sldMk cId="0" sldId="259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31.033" v="46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Abhinav Kadyan" userId="d6051f5d-5031-43da-9fd2-87de6df243b0" providerId="ADAL" clId="{CF1C6EEC-0A29-42D8-A6EF-898A4BA81E50}" dt="2026-07-31T15:00:32.950" v="4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3.848" v="51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4.766" v="52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46.423" v="5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17" creationId="{35A353A1-86ED-719E-1087-6F2010249D97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19" creationId="{E192D69F-04CC-D474-9B22-677CBF3C974B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1" creationId="{75C4A917-A1D8-D4A3-D25B-74A07E85100D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3" creationId="{54137FA1-0FDC-2284-9E79-38723FC6AC9B}"/>
          </ac:spMkLst>
        </pc:spChg>
        <pc:spChg chg="del">
          <ac:chgData name="Abhinav Kadyan" userId="d6051f5d-5031-43da-9fd2-87de6df243b0" providerId="ADAL" clId="{CF1C6EEC-0A29-42D8-A6EF-898A4BA81E50}" dt="2026-07-31T15:00:37.466" v="49" actId="478"/>
          <ac:spMkLst>
            <pc:docMk/>
            <pc:sldMk cId="0" sldId="259"/>
            <ac:spMk id="25" creationId="{86725160-7A3A-61E8-D849-BEA4FA0412A9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27" creationId="{82A77252-F886-5515-08BC-4A2564E19F65}"/>
          </ac:spMkLst>
        </pc:spChg>
        <pc:spChg chg="del">
          <ac:chgData name="Abhinav Kadyan" userId="d6051f5d-5031-43da-9fd2-87de6df243b0" providerId="ADAL" clId="{CF1C6EEC-0A29-42D8-A6EF-898A4BA81E50}" dt="2026-07-31T15:00:39.642" v="50" actId="478"/>
          <ac:spMkLst>
            <pc:docMk/>
            <pc:sldMk cId="0" sldId="259"/>
            <ac:spMk id="31" creationId="{E19FD6D9-1F2F-1E14-6271-C7B142982A4C}"/>
          </ac:spMkLst>
        </pc:spChg>
      </pc:sldChg>
      <pc:sldChg chg="delSp modSp mod">
        <pc:chgData name="Abhinav Kadyan" userId="d6051f5d-5031-43da-9fd2-87de6df243b0" providerId="ADAL" clId="{CF1C6EEC-0A29-42D8-A6EF-898A4BA81E50}" dt="2026-07-31T16:06:34.247" v="98" actId="6549"/>
        <pc:sldMkLst>
          <pc:docMk/>
          <pc:sldMk cId="0" sldId="260"/>
        </pc:sldMkLst>
        <pc:spChg chg="mod">
          <ac:chgData name="Abhinav Kadyan" userId="d6051f5d-5031-43da-9fd2-87de6df243b0" providerId="ADAL" clId="{CF1C6EEC-0A29-42D8-A6EF-898A4BA81E50}" dt="2026-07-31T16:05:48.670" v="85"/>
          <ac:spMkLst>
            <pc:docMk/>
            <pc:sldMk cId="0" sldId="260"/>
            <ac:spMk id="4" creationId="{00000000-0000-0000-0000-000000000000}"/>
          </ac:spMkLst>
        </pc:spChg>
        <pc:spChg chg="mod">
          <ac:chgData name="Abhinav Kadyan" userId="d6051f5d-5031-43da-9fd2-87de6df243b0" providerId="ADAL" clId="{CF1C6EEC-0A29-42D8-A6EF-898A4BA81E50}" dt="2026-07-31T16:06:34.247" v="98" actId="6549"/>
          <ac:spMkLst>
            <pc:docMk/>
            <pc:sldMk cId="0" sldId="260"/>
            <ac:spMk id="5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0.715" v="78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2.600" v="79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3.703" v="8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7.091" v="82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5.599" v="81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7" creationId="{B4CF57A9-6502-1132-5865-098056E9A336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19" creationId="{A145DAD2-5AB1-C3CD-E1E7-12940F4CF732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1" creationId="{86F6190C-B047-7AB1-2D2B-6AF491CC7B8F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3" creationId="{F417B52B-EEF5-49E7-2EC6-1D1B21ACDC44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5" creationId="{D46AC40F-85F8-1A1E-4630-A19E3555521B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29" creationId="{03930622-8497-CD4F-2A57-427E9C1476C1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1" creationId="{C9E4814E-64CB-C189-310A-B58863C62AD6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3" creationId="{5D945358-70FD-B4CA-3C1A-019479F6E067}"/>
          </ac:spMkLst>
        </pc:spChg>
        <pc:spChg chg="del">
          <ac:chgData name="Abhinav Kadyan" userId="d6051f5d-5031-43da-9fd2-87de6df243b0" providerId="ADAL" clId="{CF1C6EEC-0A29-42D8-A6EF-898A4BA81E50}" dt="2026-07-31T16:05:39.940" v="83" actId="478"/>
          <ac:spMkLst>
            <pc:docMk/>
            <pc:sldMk cId="0" sldId="260"/>
            <ac:spMk id="35" creationId="{BCC6E872-7C9A-5A11-051F-D7F2CC6746B8}"/>
          </ac:spMkLst>
        </pc:spChg>
        <pc:spChg chg="del">
          <ac:chgData name="Abhinav Kadyan" userId="d6051f5d-5031-43da-9fd2-87de6df243b0" providerId="ADAL" clId="{CF1C6EEC-0A29-42D8-A6EF-898A4BA81E50}" dt="2026-07-31T16:05:41.914" v="84" actId="478"/>
          <ac:spMkLst>
            <pc:docMk/>
            <pc:sldMk cId="0" sldId="260"/>
            <ac:spMk id="37" creationId="{7E243E0A-DC5F-6448-B779-5BF3B736793A}"/>
          </ac:spMkLst>
        </pc:spChg>
      </pc:sldChg>
    </pc:docChg>
  </pc:docChgLst>
  <pc:docChgLst>
    <pc:chgData name="Neha Kumari" userId="54637e18-9ef2-46ee-ae23-aa6a52b50086" providerId="ADAL" clId="{0AC61A1F-4280-4800-9AC7-22FE23A25F39}"/>
    <pc:docChg chg="modSld">
      <pc:chgData name="Neha Kumari" userId="54637e18-9ef2-46ee-ae23-aa6a52b50086" providerId="ADAL" clId="{0AC61A1F-4280-4800-9AC7-22FE23A25F39}" dt="2026-07-31T10:16:53.326" v="0" actId="22"/>
      <pc:docMkLst>
        <pc:docMk/>
      </pc:docMkLst>
      <pc:sldChg chg="addSp mod">
        <pc:chgData name="Neha Kumari" userId="54637e18-9ef2-46ee-ae23-aa6a52b50086" providerId="ADAL" clId="{0AC61A1F-4280-4800-9AC7-22FE23A25F39}" dt="2026-07-31T10:16:53.326" v="0" actId="22"/>
        <pc:sldMkLst>
          <pc:docMk/>
          <pc:sldMk cId="0" sldId="260"/>
        </pc:sldMkLst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17" creationId="{B4CF57A9-6502-1132-5865-098056E9A336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19" creationId="{A145DAD2-5AB1-C3CD-E1E7-12940F4CF732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1" creationId="{86F6190C-B047-7AB1-2D2B-6AF491CC7B8F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3" creationId="{F417B52B-EEF5-49E7-2EC6-1D1B21ACDC44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5" creationId="{D46AC40F-85F8-1A1E-4630-A19E3555521B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27" creationId="{7FD5C8F8-E6B9-6C10-9CB2-E596DCCF2CB1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3" creationId="{5D945358-70FD-B4CA-3C1A-019479F6E067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5" creationId="{BCC6E872-7C9A-5A11-051F-D7F2CC6746B8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7" creationId="{7E243E0A-DC5F-6448-B779-5BF3B736793A}"/>
          </ac:spMkLst>
        </pc:spChg>
        <pc:spChg chg="add">
          <ac:chgData name="Neha Kumari" userId="54637e18-9ef2-46ee-ae23-aa6a52b50086" providerId="ADAL" clId="{0AC61A1F-4280-4800-9AC7-22FE23A25F39}" dt="2026-07-31T10:16:53.326" v="0" actId="22"/>
          <ac:spMkLst>
            <pc:docMk/>
            <pc:sldMk cId="0" sldId="260"/>
            <ac:spMk id="39" creationId="{9F9CF1C7-31B5-696E-43EB-CBFCCA293B5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First slide requested to follow the hackathon reference-image style provided by the user.
- 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Criteria text provided by the user in this conversation.
- EXL visual style cues based on internal EXL event and playbook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660196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1173968" y="642823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ad2969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2B">
              <a:alpha val="87000"/>
            </a:srgbClr>
          </a:solidFill>
          <a:ln w="12700">
            <a:solidFill>
              <a:srgbClr val="001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5488" y="4389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75488" y="11430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822960" cy="0"/>
          </a:xfrm>
          <a:prstGeom prst="line">
            <a:avLst/>
          </a:prstGeom>
          <a:noFill/>
          <a:ln w="279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228600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BOLD SOLUTIONS.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587752"/>
            <a:ext cx="4572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REAL-WORLD IMPACT.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83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14538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029968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773936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825496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328416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072384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4123944" y="3447288"/>
            <a:ext cx="0" cy="201168"/>
          </a:xfrm>
          <a:prstGeom prst="line">
            <a:avLst/>
          </a:prstGeom>
          <a:noFill/>
          <a:ln w="1397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892040" y="3127248"/>
            <a:ext cx="256032" cy="256032"/>
          </a:xfrm>
          <a:prstGeom prst="arc">
            <a:avLst/>
          </a:prstGeom>
          <a:noFill/>
          <a:ln w="1524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36008" y="34564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66928" y="3977640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name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920240" y="4078224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1975104" y="394106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hackathon name]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566928" y="449884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name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920240" y="4599432"/>
            <a:ext cx="3401568" cy="0"/>
          </a:xfrm>
          <a:prstGeom prst="line">
            <a:avLst/>
          </a:prstGeom>
          <a:noFill/>
          <a:ln w="1143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1975104" y="4462272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solution name]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566928" y="504748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481328" y="5138928"/>
            <a:ext cx="233172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1527048" y="5010912"/>
            <a:ext cx="2148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team name]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566928" y="5532120"/>
            <a:ext cx="1005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691640" y="5623560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1691640" y="5907024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1691640" y="6190488"/>
            <a:ext cx="3520440" cy="0"/>
          </a:xfrm>
          <a:prstGeom prst="line">
            <a:avLst/>
          </a:prstGeom>
          <a:noFill/>
          <a:ln w="1016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1737360" y="5495544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D9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participant names and roles]</a:t>
            </a:r>
            <a:endParaRPr lang="en-US" sz="760" dirty="0"/>
          </a:p>
        </p:txBody>
      </p:sp>
      <p:sp>
        <p:nvSpPr>
          <p:cNvPr id="35" name="Text 32"/>
          <p:cNvSpPr/>
          <p:nvPr/>
        </p:nvSpPr>
        <p:spPr>
          <a:xfrm>
            <a:off x="7973568" y="5522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Idea. Build. Scale.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8549640" y="58795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TOMORROW,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942832" y="61264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business problem and show a deep understanding of the customer's journey and pain points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4E4CF21F-7EC9-185F-BAB2-ECE6AE010E2E}"/>
              </a:ext>
            </a:extLst>
          </p:cNvPr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D76AFB12-DED7-C8F7-F293-09706BEEE436}"/>
              </a:ext>
            </a:extLst>
          </p:cNvPr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F194AC4-93E7-8FC3-A601-F4E32D6375DF}"/>
              </a:ext>
            </a:extLst>
          </p:cNvPr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Customer Focus</a:t>
            </a:r>
            <a:endParaRPr lang="en-US" sz="17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7306A14-3DCF-2D83-E951-1EBD9B3C0E02}"/>
              </a:ext>
            </a:extLst>
          </p:cNvPr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define the business problem and show a deep understanding of the customer's journey and pain points</a:t>
            </a:r>
            <a:endParaRPr lang="en-US" sz="88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40D0ABC-628F-7957-DD67-01C5528823C9}"/>
              </a:ext>
            </a:extLst>
          </p:cNvPr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17D2E9F-42C8-16CE-E449-7635929928D1}"/>
              </a:ext>
            </a:extLst>
          </p:cNvPr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B98C0E-2E04-BD83-C1D0-BEF4400053F8}"/>
              </a:ext>
            </a:extLst>
          </p:cNvPr>
          <p:cNvSpPr/>
          <p:nvPr/>
        </p:nvSpPr>
        <p:spPr>
          <a:xfrm>
            <a:off x="868680" y="129844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ECA8CDC-4640-3AD2-5868-5B97105F6A6E}"/>
              </a:ext>
            </a:extLst>
          </p:cNvPr>
          <p:cNvSpPr/>
          <p:nvPr/>
        </p:nvSpPr>
        <p:spPr>
          <a:xfrm>
            <a:off x="1124712" y="155448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lert_white.png">
            <a:extLst>
              <a:ext uri="{FF2B5EF4-FFF2-40B4-BE49-F238E27FC236}">
                <a16:creationId xmlns:a16="http://schemas.microsoft.com/office/drawing/2014/main" id="{7C4F2D19-C21D-B2D7-43D8-FCB5B4A7F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358" y="1697126"/>
            <a:ext cx="263347" cy="2633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C52B47B-F531-E8E0-BF4E-DD7E5AE3C5EB}"/>
              </a:ext>
            </a:extLst>
          </p:cNvPr>
          <p:cNvSpPr txBox="1"/>
          <p:nvPr/>
        </p:nvSpPr>
        <p:spPr>
          <a:xfrm>
            <a:off x="1828800" y="159105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The Bottleneck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918D4-BCE7-8CBB-AE43-61B902FA6B29}"/>
              </a:ext>
            </a:extLst>
          </p:cNvPr>
          <p:cNvSpPr txBox="1"/>
          <p:nvPr/>
        </p:nvSpPr>
        <p:spPr>
          <a:xfrm>
            <a:off x="1124712" y="2212848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Banking, healthcare, insurance, retail &amp; telecom are accelerating cloud adoption — legacy ETL stands in the way.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6FD8858-ADCF-C1C4-6B5C-6F318A32062F}"/>
              </a:ext>
            </a:extLst>
          </p:cNvPr>
          <p:cNvSpPr/>
          <p:nvPr/>
        </p:nvSpPr>
        <p:spPr>
          <a:xfrm>
            <a:off x="6263640" y="129844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427924-2313-7678-7264-C6A7FD2EBF37}"/>
              </a:ext>
            </a:extLst>
          </p:cNvPr>
          <p:cNvSpPr/>
          <p:nvPr/>
        </p:nvSpPr>
        <p:spPr>
          <a:xfrm>
            <a:off x="6519672" y="155448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lock_white.png">
            <a:extLst>
              <a:ext uri="{FF2B5EF4-FFF2-40B4-BE49-F238E27FC236}">
                <a16:creationId xmlns:a16="http://schemas.microsoft.com/office/drawing/2014/main" id="{CC6EAAE2-8280-BBE7-BCBB-3C94D75DE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1697126"/>
            <a:ext cx="263347" cy="2633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2406C0D-82A4-8A7A-CD99-9265893A5727}"/>
              </a:ext>
            </a:extLst>
          </p:cNvPr>
          <p:cNvSpPr txBox="1"/>
          <p:nvPr/>
        </p:nvSpPr>
        <p:spPr>
          <a:xfrm>
            <a:off x="7223759" y="159105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Tribal Knowledge Risk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AD8B90-E1C7-7C9F-CD67-6716C25181D9}"/>
              </a:ext>
            </a:extLst>
          </p:cNvPr>
          <p:cNvSpPr txBox="1"/>
          <p:nvPr/>
        </p:nvSpPr>
        <p:spPr>
          <a:xfrm>
            <a:off x="6519672" y="2212848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Undocumented business rules survive only in the heads of a handful of senior engineers.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F6DABB-5D50-0824-1EFB-EA8414F3232B}"/>
              </a:ext>
            </a:extLst>
          </p:cNvPr>
          <p:cNvSpPr/>
          <p:nvPr/>
        </p:nvSpPr>
        <p:spPr>
          <a:xfrm>
            <a:off x="868680" y="372160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7F16790-638D-2A58-59D9-FC2B1B1B09ED}"/>
              </a:ext>
            </a:extLst>
          </p:cNvPr>
          <p:cNvSpPr/>
          <p:nvPr/>
        </p:nvSpPr>
        <p:spPr>
          <a:xfrm>
            <a:off x="1124712" y="3977640"/>
            <a:ext cx="548640" cy="54864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earch_white.png">
            <a:extLst>
              <a:ext uri="{FF2B5EF4-FFF2-40B4-BE49-F238E27FC236}">
                <a16:creationId xmlns:a16="http://schemas.microsoft.com/office/drawing/2014/main" id="{7A8E4A17-6DDC-769E-6D75-C397E7491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358" y="4120286"/>
            <a:ext cx="263347" cy="26334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A3D411-00CA-4246-17AD-7BA0CD4F0A42}"/>
              </a:ext>
            </a:extLst>
          </p:cNvPr>
          <p:cNvSpPr txBox="1"/>
          <p:nvPr/>
        </p:nvSpPr>
        <p:spPr>
          <a:xfrm>
            <a:off x="1828800" y="401421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Where the Pain Really Is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B77534-D47F-ADFA-5EB2-D91229EA390E}"/>
              </a:ext>
            </a:extLst>
          </p:cNvPr>
          <p:cNvSpPr txBox="1"/>
          <p:nvPr/>
        </p:nvSpPr>
        <p:spPr>
          <a:xfrm>
            <a:off x="1124712" y="4636008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Most migration effort is spent discovering hidden logic — before a single line is rewritten.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913AF2F-45E8-9D0E-3E08-8AC5D582851B}"/>
              </a:ext>
            </a:extLst>
          </p:cNvPr>
          <p:cNvSpPr/>
          <p:nvPr/>
        </p:nvSpPr>
        <p:spPr>
          <a:xfrm>
            <a:off x="6263640" y="3721608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B45060D-F56E-28C5-5ECF-D2B6779B294D}"/>
              </a:ext>
            </a:extLst>
          </p:cNvPr>
          <p:cNvSpPr/>
          <p:nvPr/>
        </p:nvSpPr>
        <p:spPr>
          <a:xfrm>
            <a:off x="6519672" y="3977640"/>
            <a:ext cx="548640" cy="54864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filetext_white.png">
            <a:extLst>
              <a:ext uri="{FF2B5EF4-FFF2-40B4-BE49-F238E27FC236}">
                <a16:creationId xmlns:a16="http://schemas.microsoft.com/office/drawing/2014/main" id="{3CA333EA-9903-FE61-1185-3D5154840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318" y="4120286"/>
            <a:ext cx="263347" cy="26334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EB25234-CC8B-4CC9-481C-DC00B961BADF}"/>
              </a:ext>
            </a:extLst>
          </p:cNvPr>
          <p:cNvSpPr txBox="1"/>
          <p:nvPr/>
        </p:nvSpPr>
        <p:spPr>
          <a:xfrm>
            <a:off x="7223759" y="401421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05071"/>
                </a:solidFill>
                <a:latin typeface="Calibri"/>
              </a:rPr>
              <a:t>Proof Point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1BA6CC-E83F-D91B-5BF7-AF1BD83D4FB4}"/>
              </a:ext>
            </a:extLst>
          </p:cNvPr>
          <p:cNvSpPr txBox="1"/>
          <p:nvPr/>
        </p:nvSpPr>
        <p:spPr>
          <a:xfrm>
            <a:off x="6519672" y="4636008"/>
            <a:ext cx="4562856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84848"/>
                </a:solidFill>
                <a:latin typeface="Calibri"/>
              </a:rPr>
              <a:t>Our sample legacy script hid 2 undocumented rules — a 90-day discount, a 24-month cutoff — with zero rationale in the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practical and scalable framework with a clear step-by-step methodology for solving the challenge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F479572F-C3CD-A899-47DC-21556152CF2E}"/>
              </a:ext>
            </a:extLst>
          </p:cNvPr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1582247-BA75-76BF-BC1A-56071F1F3E97}"/>
              </a:ext>
            </a:extLst>
          </p:cNvPr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ACD24AF-3721-3251-9D62-6EF5A4507ADB}"/>
              </a:ext>
            </a:extLst>
          </p:cNvPr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Solution &amp; Innovation</a:t>
            </a:r>
            <a:endParaRPr lang="en-US" sz="17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F5958EF-0D4A-6F2F-9C7B-EDD368120FD7}"/>
              </a:ext>
            </a:extLst>
          </p:cNvPr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practical and scalable framework with a clear step-by-step methodology for solving the challenge</a:t>
            </a:r>
            <a:endParaRPr lang="en-US" sz="88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DF91BB0-CCE1-B5D3-2C0F-0F04F2678C86}"/>
              </a:ext>
            </a:extLst>
          </p:cNvPr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5F6DD0A-0B78-BCB9-9906-F8A3C907F38D}"/>
              </a:ext>
            </a:extLst>
          </p:cNvPr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6E8533-ECD2-07CD-0D9E-A3CD8F194882}"/>
              </a:ext>
            </a:extLst>
          </p:cNvPr>
          <p:cNvSpPr/>
          <p:nvPr/>
        </p:nvSpPr>
        <p:spPr>
          <a:xfrm>
            <a:off x="868680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11D7BC-7FE2-CE74-AF83-C90297369AB1}"/>
              </a:ext>
            </a:extLst>
          </p:cNvPr>
          <p:cNvSpPr/>
          <p:nvPr/>
        </p:nvSpPr>
        <p:spPr>
          <a:xfrm>
            <a:off x="1778507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atabase_white.png">
            <a:extLst>
              <a:ext uri="{FF2B5EF4-FFF2-40B4-BE49-F238E27FC236}">
                <a16:creationId xmlns:a16="http://schemas.microsoft.com/office/drawing/2014/main" id="{B8B4EAFF-8245-ED87-3E5A-2BC62E3DD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419" y="1693103"/>
            <a:ext cx="289681" cy="2896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D6134D5-19B3-E985-762B-B1474A07BAA3}"/>
              </a:ext>
            </a:extLst>
          </p:cNvPr>
          <p:cNvSpPr txBox="1"/>
          <p:nvPr/>
        </p:nvSpPr>
        <p:spPr>
          <a:xfrm>
            <a:off x="2834639" y="13898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665151-A74B-91C4-E032-741094D97042}"/>
              </a:ext>
            </a:extLst>
          </p:cNvPr>
          <p:cNvSpPr txBox="1"/>
          <p:nvPr/>
        </p:nvSpPr>
        <p:spPr>
          <a:xfrm>
            <a:off x="1005839" y="22860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Input &amp; AI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354604-99B0-459F-C54B-B0D795E44020}"/>
              </a:ext>
            </a:extLst>
          </p:cNvPr>
          <p:cNvSpPr txBox="1"/>
          <p:nvPr/>
        </p:nvSpPr>
        <p:spPr>
          <a:xfrm>
            <a:off x="1033271" y="2761488"/>
            <a:ext cx="2093976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Legacy SQL + metadata read; business rules, tables &amp; dependencies extracted automatically.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7260B-2838-B27A-DB28-3CD800CDC754}"/>
              </a:ext>
            </a:extLst>
          </p:cNvPr>
          <p:cNvSpPr txBox="1"/>
          <p:nvPr/>
        </p:nvSpPr>
        <p:spPr>
          <a:xfrm>
            <a:off x="3300983" y="221742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F6ADBB4-856F-C0C9-A2E0-E6CD0055B5D4}"/>
              </a:ext>
            </a:extLst>
          </p:cNvPr>
          <p:cNvSpPr/>
          <p:nvPr/>
        </p:nvSpPr>
        <p:spPr>
          <a:xfrm>
            <a:off x="3584448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C5BA43-9655-A3EC-DA22-0B3BE648E816}"/>
              </a:ext>
            </a:extLst>
          </p:cNvPr>
          <p:cNvSpPr/>
          <p:nvPr/>
        </p:nvSpPr>
        <p:spPr>
          <a:xfrm>
            <a:off x="4494276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pu_white.png">
            <a:extLst>
              <a:ext uri="{FF2B5EF4-FFF2-40B4-BE49-F238E27FC236}">
                <a16:creationId xmlns:a16="http://schemas.microsoft.com/office/drawing/2014/main" id="{3B3C95AB-F519-820E-C4E4-5B6610F13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187" y="1693103"/>
            <a:ext cx="289681" cy="2896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3E4F67-9089-9C06-3549-EF0B20C917BF}"/>
              </a:ext>
            </a:extLst>
          </p:cNvPr>
          <p:cNvSpPr txBox="1"/>
          <p:nvPr/>
        </p:nvSpPr>
        <p:spPr>
          <a:xfrm>
            <a:off x="5550408" y="13898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AC1B8-CD7B-9428-C3A4-57AE5D7004CC}"/>
              </a:ext>
            </a:extLst>
          </p:cNvPr>
          <p:cNvSpPr txBox="1"/>
          <p:nvPr/>
        </p:nvSpPr>
        <p:spPr>
          <a:xfrm>
            <a:off x="3721608" y="22860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Transformation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C933E1-5AEB-0435-E705-A73C055C97FA}"/>
              </a:ext>
            </a:extLst>
          </p:cNvPr>
          <p:cNvSpPr txBox="1"/>
          <p:nvPr/>
        </p:nvSpPr>
        <p:spPr>
          <a:xfrm>
            <a:off x="3749039" y="2761488"/>
            <a:ext cx="2093976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Legacy logic converted into a Snowflake / dbt-ready design.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E4810C-9D71-B047-729C-64F717B6E19E}"/>
              </a:ext>
            </a:extLst>
          </p:cNvPr>
          <p:cNvSpPr txBox="1"/>
          <p:nvPr/>
        </p:nvSpPr>
        <p:spPr>
          <a:xfrm>
            <a:off x="6016752" y="221742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185B60E-9343-E930-6E23-5A4C4E9CBB39}"/>
              </a:ext>
            </a:extLst>
          </p:cNvPr>
          <p:cNvSpPr/>
          <p:nvPr/>
        </p:nvSpPr>
        <p:spPr>
          <a:xfrm>
            <a:off x="6300216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DC92CD5-6800-7679-8DDF-E39C27D46F56}"/>
              </a:ext>
            </a:extLst>
          </p:cNvPr>
          <p:cNvSpPr/>
          <p:nvPr/>
        </p:nvSpPr>
        <p:spPr>
          <a:xfrm>
            <a:off x="7210044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shield_white.png">
            <a:extLst>
              <a:ext uri="{FF2B5EF4-FFF2-40B4-BE49-F238E27FC236}">
                <a16:creationId xmlns:a16="http://schemas.microsoft.com/office/drawing/2014/main" id="{8593873D-F850-05A5-4810-891BCEAA8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955" y="1693103"/>
            <a:ext cx="289681" cy="28968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D593C86-A0AE-420F-625F-B3A8B0F775E7}"/>
              </a:ext>
            </a:extLst>
          </p:cNvPr>
          <p:cNvSpPr txBox="1"/>
          <p:nvPr/>
        </p:nvSpPr>
        <p:spPr>
          <a:xfrm>
            <a:off x="8266175" y="13898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7E45E4-5132-7A71-01D7-5B94E3207B7B}"/>
              </a:ext>
            </a:extLst>
          </p:cNvPr>
          <p:cNvSpPr txBox="1"/>
          <p:nvPr/>
        </p:nvSpPr>
        <p:spPr>
          <a:xfrm>
            <a:off x="6437376" y="22860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Human Review &amp; Validation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AB9184-E891-6704-9C22-9236D2403624}"/>
              </a:ext>
            </a:extLst>
          </p:cNvPr>
          <p:cNvSpPr txBox="1"/>
          <p:nvPr/>
        </p:nvSpPr>
        <p:spPr>
          <a:xfrm>
            <a:off x="6464807" y="2761488"/>
            <a:ext cx="2093976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Every AI claim fact-checked against source; ambiguous rules routed to a human first.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A7CFFE-A6B9-ECCF-0D89-99BD60E8614F}"/>
              </a:ext>
            </a:extLst>
          </p:cNvPr>
          <p:cNvSpPr txBox="1"/>
          <p:nvPr/>
        </p:nvSpPr>
        <p:spPr>
          <a:xfrm>
            <a:off x="8732519" y="221742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F0CE9E5-F02D-9C53-AA3F-449C33DBFB95}"/>
              </a:ext>
            </a:extLst>
          </p:cNvPr>
          <p:cNvSpPr/>
          <p:nvPr/>
        </p:nvSpPr>
        <p:spPr>
          <a:xfrm>
            <a:off x="9015984" y="1298448"/>
            <a:ext cx="2423160" cy="224028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D082F2F-D23B-8543-9895-82464AD58CC8}"/>
              </a:ext>
            </a:extLst>
          </p:cNvPr>
          <p:cNvSpPr/>
          <p:nvPr/>
        </p:nvSpPr>
        <p:spPr>
          <a:xfrm>
            <a:off x="9925811" y="1536192"/>
            <a:ext cx="603504" cy="603504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gitbranch_white.png">
            <a:extLst>
              <a:ext uri="{FF2B5EF4-FFF2-40B4-BE49-F238E27FC236}">
                <a16:creationId xmlns:a16="http://schemas.microsoft.com/office/drawing/2014/main" id="{AFC3390A-28C8-4F04-6244-0E3402A79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2723" y="1693103"/>
            <a:ext cx="289681" cy="28968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A30E7B9-E6F7-85A4-97E3-A31DB4C0A408}"/>
              </a:ext>
            </a:extLst>
          </p:cNvPr>
          <p:cNvSpPr txBox="1"/>
          <p:nvPr/>
        </p:nvSpPr>
        <p:spPr>
          <a:xfrm>
            <a:off x="10981944" y="13898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FB4D0A"/>
                </a:solidFill>
                <a:latin typeface="Calibri"/>
              </a:rP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644119-D9AC-D9DE-6AE5-24499D2ECA0F}"/>
              </a:ext>
            </a:extLst>
          </p:cNvPr>
          <p:cNvSpPr txBox="1"/>
          <p:nvPr/>
        </p:nvSpPr>
        <p:spPr>
          <a:xfrm>
            <a:off x="9153144" y="228600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005071"/>
                </a:solidFill>
                <a:latin typeface="Calibri"/>
              </a:rPr>
              <a:t>Migration Planning &amp; Output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843D7B-47A8-9984-1913-8308139AC1C7}"/>
              </a:ext>
            </a:extLst>
          </p:cNvPr>
          <p:cNvSpPr txBox="1"/>
          <p:nvPr/>
        </p:nvSpPr>
        <p:spPr>
          <a:xfrm>
            <a:off x="9180576" y="2761488"/>
            <a:ext cx="2093976" cy="667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Steps sequenced by dependency; migration report &amp; lineage diagram generated.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213552-04C1-93FC-4DC6-5EDA9397667E}"/>
              </a:ext>
            </a:extLst>
          </p:cNvPr>
          <p:cNvSpPr txBox="1"/>
          <p:nvPr/>
        </p:nvSpPr>
        <p:spPr>
          <a:xfrm>
            <a:off x="1234440" y="395020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3C3345-A542-00B6-1611-B0FD25EFE477}"/>
              </a:ext>
            </a:extLst>
          </p:cNvPr>
          <p:cNvSpPr txBox="1"/>
          <p:nvPr/>
        </p:nvSpPr>
        <p:spPr>
          <a:xfrm>
            <a:off x="1234440" y="4663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business rules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correctly identified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A6B7C8-1E0E-4255-1433-49C334E31E45}"/>
              </a:ext>
            </a:extLst>
          </p:cNvPr>
          <p:cNvSpPr txBox="1"/>
          <p:nvPr/>
        </p:nvSpPr>
        <p:spPr>
          <a:xfrm>
            <a:off x="4937760" y="395020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586176-794C-2AED-AD3C-8397E5A6A210}"/>
              </a:ext>
            </a:extLst>
          </p:cNvPr>
          <p:cNvSpPr txBox="1"/>
          <p:nvPr/>
        </p:nvSpPr>
        <p:spPr>
          <a:xfrm>
            <a:off x="4937760" y="4663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fabricated table or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column references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79FA5E-5EAB-DF4E-342B-D6F61C3E6D26}"/>
              </a:ext>
            </a:extLst>
          </p:cNvPr>
          <p:cNvSpPr txBox="1"/>
          <p:nvPr/>
        </p:nvSpPr>
        <p:spPr>
          <a:xfrm>
            <a:off x="8641080" y="3950208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005071"/>
                </a:solidFill>
                <a:latin typeface="Calibri"/>
              </a:rPr>
              <a:t>2 /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4C5AEF-7B34-CB3F-4D30-54A091D5672F}"/>
              </a:ext>
            </a:extLst>
          </p:cNvPr>
          <p:cNvSpPr txBox="1"/>
          <p:nvPr/>
        </p:nvSpPr>
        <p:spPr>
          <a:xfrm>
            <a:off x="8641080" y="466344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ambiguous rules correctly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flagged for human review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687C5B-523F-4036-D749-BF8F02EFB9C9}"/>
              </a:ext>
            </a:extLst>
          </p:cNvPr>
          <p:cNvSpPr txBox="1"/>
          <p:nvPr/>
        </p:nvSpPr>
        <p:spPr>
          <a:xfrm>
            <a:off x="868680" y="5888736"/>
            <a:ext cx="10469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1">
                <a:solidFill>
                  <a:srgbClr val="484848"/>
                </a:solidFill>
                <a:latin typeface="Calibri"/>
              </a:rPr>
              <a:t>Measured on a live pipeline run against a representative legacy script — not a projected estimate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exactly what makes your solution unique and how it delivers better value than existing market options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5D940B18-426E-4527-8063-19DA82FCC888}"/>
              </a:ext>
            </a:extLst>
          </p:cNvPr>
          <p:cNvSpPr/>
          <p:nvPr/>
        </p:nvSpPr>
        <p:spPr>
          <a:xfrm>
            <a:off x="7708392" y="10378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lens</a:t>
            </a:r>
            <a:endParaRPr lang="en-US" sz="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2E5557A8-A21E-C820-7A50-6132F9DFE8BA}"/>
              </a:ext>
            </a:extLst>
          </p:cNvPr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9DDCC46B-7607-D59F-E079-6E3B00A0E886}"/>
              </a:ext>
            </a:extLst>
          </p:cNvPr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C10165F-7DD4-B467-025C-79F5253C3571}"/>
              </a:ext>
            </a:extLst>
          </p:cNvPr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Out From Competitors</a:t>
            </a:r>
            <a:endParaRPr lang="en-US" sz="17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83068E3-B01C-5E0E-1AEA-37D00927355E}"/>
              </a:ext>
            </a:extLst>
          </p:cNvPr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exactly what makes your solution unique and how it delivers better value than existing market options</a:t>
            </a:r>
            <a:endParaRPr lang="en-US" sz="88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F2E33096-E302-AB6E-0E76-153A299AC2AA}"/>
              </a:ext>
            </a:extLst>
          </p:cNvPr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4A49E851-B8A8-E5CD-2EAD-6BBD7DD099B4}"/>
              </a:ext>
            </a:extLst>
          </p:cNvPr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42262139-9EE3-A07D-3FC0-898B1F503314}"/>
              </a:ext>
            </a:extLst>
          </p:cNvPr>
          <p:cNvSpPr/>
          <p:nvPr/>
        </p:nvSpPr>
        <p:spPr>
          <a:xfrm>
            <a:off x="7708392" y="1037844"/>
            <a:ext cx="10881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lens</a:t>
            </a:r>
            <a:endParaRPr lang="en-US" sz="75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98C8850-CBE3-7AAD-157F-13F2DA5CE139}"/>
              </a:ext>
            </a:extLst>
          </p:cNvPr>
          <p:cNvSpPr/>
          <p:nvPr/>
        </p:nvSpPr>
        <p:spPr>
          <a:xfrm>
            <a:off x="7635240" y="1005840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A2EC3-3F50-1D24-9A5A-12F97EBB4DBE}"/>
              </a:ext>
            </a:extLst>
          </p:cNvPr>
          <p:cNvSpPr txBox="1"/>
          <p:nvPr/>
        </p:nvSpPr>
        <p:spPr>
          <a:xfrm>
            <a:off x="7635240" y="1005840"/>
            <a:ext cx="12344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MARKET LENS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8330A31-8A6F-38A9-6224-08BB75B6879C}"/>
              </a:ext>
            </a:extLst>
          </p:cNvPr>
          <p:cNvSpPr/>
          <p:nvPr/>
        </p:nvSpPr>
        <p:spPr>
          <a:xfrm>
            <a:off x="868680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CA7267-AE8A-486A-081E-2B373C172007}"/>
              </a:ext>
            </a:extLst>
          </p:cNvPr>
          <p:cNvSpPr txBox="1"/>
          <p:nvPr/>
        </p:nvSpPr>
        <p:spPr>
          <a:xfrm>
            <a:off x="941832" y="1435607"/>
            <a:ext cx="23682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SnowConvert /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AWS SCT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F213B93-E740-17D0-E7D8-9E7C7518085D}"/>
              </a:ext>
            </a:extLst>
          </p:cNvPr>
          <p:cNvSpPr/>
          <p:nvPr/>
        </p:nvSpPr>
        <p:spPr>
          <a:xfrm>
            <a:off x="868680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E99BCF-395A-1AA6-AADD-1D17B3D5A0C8}"/>
              </a:ext>
            </a:extLst>
          </p:cNvPr>
          <p:cNvSpPr txBox="1"/>
          <p:nvPr/>
        </p:nvSpPr>
        <p:spPr>
          <a:xfrm>
            <a:off x="1033271" y="2139696"/>
            <a:ext cx="2185416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Automated syntax conversion</a:t>
            </a:r>
          </a:p>
          <a:p>
            <a:pPr algn="l">
              <a:lnSpc>
                <a:spcPct val="115000"/>
              </a:lnSpc>
            </a:pPr>
            <a:endParaRPr sz="1050" b="0" i="0">
              <a:solidFill>
                <a:srgbClr val="1F2A2E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No rule rationale or usable documentation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971A709-A5A4-EDE8-F79A-C2C004255E5B}"/>
              </a:ext>
            </a:extLst>
          </p:cNvPr>
          <p:cNvSpPr/>
          <p:nvPr/>
        </p:nvSpPr>
        <p:spPr>
          <a:xfrm>
            <a:off x="3547872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562E69-3247-19B8-F231-B1DC100D7F15}"/>
              </a:ext>
            </a:extLst>
          </p:cNvPr>
          <p:cNvSpPr txBox="1"/>
          <p:nvPr/>
        </p:nvSpPr>
        <p:spPr>
          <a:xfrm>
            <a:off x="3621024" y="1435607"/>
            <a:ext cx="23682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BladeBridge /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Datometry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7B58599-62E9-9ED7-1C54-87968116426A}"/>
              </a:ext>
            </a:extLst>
          </p:cNvPr>
          <p:cNvSpPr/>
          <p:nvPr/>
        </p:nvSpPr>
        <p:spPr>
          <a:xfrm>
            <a:off x="3547872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7DB566-C6BB-15BE-2B44-D9B70AE74B7B}"/>
              </a:ext>
            </a:extLst>
          </p:cNvPr>
          <p:cNvSpPr txBox="1"/>
          <p:nvPr/>
        </p:nvSpPr>
        <p:spPr>
          <a:xfrm>
            <a:off x="3712463" y="2139696"/>
            <a:ext cx="2185416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Automated transpile-and-lift</a:t>
            </a:r>
          </a:p>
          <a:p>
            <a:pPr algn="l">
              <a:lnSpc>
                <a:spcPct val="115000"/>
              </a:lnSpc>
            </a:pPr>
            <a:endParaRPr sz="1050" b="0" i="0">
              <a:solidFill>
                <a:srgbClr val="1F2A2E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Docs &amp; governance treated as afterthought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51B3BDD-9818-85A0-C169-CD21E7EE6C49}"/>
              </a:ext>
            </a:extLst>
          </p:cNvPr>
          <p:cNvSpPr/>
          <p:nvPr/>
        </p:nvSpPr>
        <p:spPr>
          <a:xfrm>
            <a:off x="6227064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A1BBDE-D115-A9AF-2352-3C59EC378356}"/>
              </a:ext>
            </a:extLst>
          </p:cNvPr>
          <p:cNvSpPr txBox="1"/>
          <p:nvPr/>
        </p:nvSpPr>
        <p:spPr>
          <a:xfrm>
            <a:off x="6300216" y="1435607"/>
            <a:ext cx="23682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Generic AI</a:t>
            </a:r>
          </a:p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Copilots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D780A22-CBDE-2778-D46A-ECDC9322B566}"/>
              </a:ext>
            </a:extLst>
          </p:cNvPr>
          <p:cNvSpPr/>
          <p:nvPr/>
        </p:nvSpPr>
        <p:spPr>
          <a:xfrm>
            <a:off x="6227064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809493-EE2B-143F-5194-6F6722D4853E}"/>
              </a:ext>
            </a:extLst>
          </p:cNvPr>
          <p:cNvSpPr txBox="1"/>
          <p:nvPr/>
        </p:nvSpPr>
        <p:spPr>
          <a:xfrm>
            <a:off x="6391656" y="2139696"/>
            <a:ext cx="2185416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Fast, flexible code explanation</a:t>
            </a:r>
          </a:p>
          <a:p>
            <a:pPr algn="l">
              <a:lnSpc>
                <a:spcPct val="115000"/>
              </a:lnSpc>
            </a:pPr>
            <a:endParaRPr sz="1050" b="0" i="0">
              <a:solidFill>
                <a:srgbClr val="1F2A2E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8A8A8A"/>
                </a:solidFill>
                <a:latin typeface="Calibri"/>
              </a:rPr>
              <a:t>THE GAP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No fact-check — can invent rules that don't exist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02124CA-7485-0F95-C0EC-F3959B88F356}"/>
              </a:ext>
            </a:extLst>
          </p:cNvPr>
          <p:cNvSpPr/>
          <p:nvPr/>
        </p:nvSpPr>
        <p:spPr>
          <a:xfrm>
            <a:off x="8906256" y="1435607"/>
            <a:ext cx="2514600" cy="502920"/>
          </a:xfrm>
          <a:prstGeom prst="roundRect">
            <a:avLst>
              <a:gd name="adj" fmla="val 12000"/>
            </a:avLst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188229-986D-58E7-9528-32D137B05133}"/>
              </a:ext>
            </a:extLst>
          </p:cNvPr>
          <p:cNvSpPr txBox="1"/>
          <p:nvPr/>
        </p:nvSpPr>
        <p:spPr>
          <a:xfrm>
            <a:off x="8979408" y="1435607"/>
            <a:ext cx="236829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Our Framework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394FF34-BDF7-3D75-2D06-05844EC92D0F}"/>
              </a:ext>
            </a:extLst>
          </p:cNvPr>
          <p:cNvSpPr/>
          <p:nvPr/>
        </p:nvSpPr>
        <p:spPr>
          <a:xfrm>
            <a:off x="8906256" y="1984248"/>
            <a:ext cx="2514600" cy="1965960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 w="15875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7BA7F1-EB74-BF4D-C837-3942B90AB2E8}"/>
              </a:ext>
            </a:extLst>
          </p:cNvPr>
          <p:cNvSpPr txBox="1"/>
          <p:nvPr/>
        </p:nvSpPr>
        <p:spPr>
          <a:xfrm>
            <a:off x="9070848" y="2139696"/>
            <a:ext cx="2185416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B4D0A"/>
                </a:solidFill>
                <a:latin typeface="Calibri"/>
              </a:rPr>
              <a:t>GOOD AT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Rule extraction + validated transformation</a:t>
            </a:r>
          </a:p>
          <a:p>
            <a:pPr algn="l">
              <a:lnSpc>
                <a:spcPct val="115000"/>
              </a:lnSpc>
            </a:pPr>
            <a:endParaRPr sz="1050" b="0" i="0">
              <a:solidFill>
                <a:srgbClr val="1F2A2E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FB4D0A"/>
                </a:solidFill>
                <a:latin typeface="Calibri"/>
              </a:rPr>
              <a:t>WHY IT WINS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F2A2E"/>
                </a:solidFill>
                <a:latin typeface="Calibri"/>
              </a:rPr>
              <a:t>Fact-checked, human- reviewed, vendor-agnostic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4D74903-864E-4518-142D-CCA3D4AF1406}"/>
              </a:ext>
            </a:extLst>
          </p:cNvPr>
          <p:cNvSpPr/>
          <p:nvPr/>
        </p:nvSpPr>
        <p:spPr>
          <a:xfrm>
            <a:off x="914400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filetext_white.png">
            <a:extLst>
              <a:ext uri="{FF2B5EF4-FFF2-40B4-BE49-F238E27FC236}">
                <a16:creationId xmlns:a16="http://schemas.microsoft.com/office/drawing/2014/main" id="{3EFE19D1-ECE8-905D-EA9A-3199B68A9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1" y="4297679"/>
            <a:ext cx="219456" cy="2194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3289970-674D-18AB-8E2D-8118BA6F9FF7}"/>
              </a:ext>
            </a:extLst>
          </p:cNvPr>
          <p:cNvSpPr txBox="1"/>
          <p:nvPr/>
        </p:nvSpPr>
        <p:spPr>
          <a:xfrm>
            <a:off x="1490472" y="4123944"/>
            <a:ext cx="187451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Documentation-first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3755416-603F-4E0B-CE95-51099B69B909}"/>
              </a:ext>
            </a:extLst>
          </p:cNvPr>
          <p:cNvSpPr/>
          <p:nvPr/>
        </p:nvSpPr>
        <p:spPr>
          <a:xfrm>
            <a:off x="3593591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checkcircle_white.png">
            <a:extLst>
              <a:ext uri="{FF2B5EF4-FFF2-40B4-BE49-F238E27FC236}">
                <a16:creationId xmlns:a16="http://schemas.microsoft.com/office/drawing/2014/main" id="{2AB5F2CE-E17C-87A1-9079-B38387AA1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3" y="4297679"/>
            <a:ext cx="219456" cy="21945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28434FE-0907-ADED-2F8D-7ECBDD98255C}"/>
              </a:ext>
            </a:extLst>
          </p:cNvPr>
          <p:cNvSpPr txBox="1"/>
          <p:nvPr/>
        </p:nvSpPr>
        <p:spPr>
          <a:xfrm>
            <a:off x="4169663" y="4123944"/>
            <a:ext cx="187451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Built-in fact-checking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F495434-C1A5-C8E3-CA96-9A929E8DE9C7}"/>
              </a:ext>
            </a:extLst>
          </p:cNvPr>
          <p:cNvSpPr/>
          <p:nvPr/>
        </p:nvSpPr>
        <p:spPr>
          <a:xfrm>
            <a:off x="6272784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users_white.png">
            <a:extLst>
              <a:ext uri="{FF2B5EF4-FFF2-40B4-BE49-F238E27FC236}">
                <a16:creationId xmlns:a16="http://schemas.microsoft.com/office/drawing/2014/main" id="{0B4CE21D-B11C-4649-8994-F8BC346EE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297679"/>
            <a:ext cx="219456" cy="21945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5F833FC-6349-0869-FE39-A379E3B4556A}"/>
              </a:ext>
            </a:extLst>
          </p:cNvPr>
          <p:cNvSpPr txBox="1"/>
          <p:nvPr/>
        </p:nvSpPr>
        <p:spPr>
          <a:xfrm>
            <a:off x="6848856" y="4123944"/>
            <a:ext cx="187451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Human-in-the-loop by design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45B21C6-DE5E-7BBD-3B0D-2B2267F81581}"/>
              </a:ext>
            </a:extLst>
          </p:cNvPr>
          <p:cNvSpPr/>
          <p:nvPr/>
        </p:nvSpPr>
        <p:spPr>
          <a:xfrm>
            <a:off x="8951976" y="4178807"/>
            <a:ext cx="457200" cy="457200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layers_white.png">
            <a:extLst>
              <a:ext uri="{FF2B5EF4-FFF2-40B4-BE49-F238E27FC236}">
                <a16:creationId xmlns:a16="http://schemas.microsoft.com/office/drawing/2014/main" id="{F4766D82-DA78-B010-B5F1-C9FE6EA3DA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8" y="4297679"/>
            <a:ext cx="219456" cy="21945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F7FD563-694E-17ED-B5B7-EEF95E810093}"/>
              </a:ext>
            </a:extLst>
          </p:cNvPr>
          <p:cNvSpPr txBox="1"/>
          <p:nvPr/>
        </p:nvSpPr>
        <p:spPr>
          <a:xfrm>
            <a:off x="9528048" y="4123944"/>
            <a:ext cx="1874519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05071"/>
                </a:solidFill>
                <a:latin typeface="Calibri"/>
              </a:rPr>
              <a:t>Not locked to one AI vendor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buyer segments and prove the solution's potential for high scalability and market commercialization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9F9CF1C7-31B5-696E-43EB-CBFCCA293B5E}"/>
              </a:ext>
            </a:extLst>
          </p:cNvPr>
          <p:cNvSpPr/>
          <p:nvPr/>
        </p:nvSpPr>
        <p:spPr>
          <a:xfrm>
            <a:off x="7708392" y="10561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map</a:t>
            </a:r>
            <a:endParaRPr lang="en-US" sz="75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721BD779-BB6F-8E69-44EF-06233CC0A501}"/>
              </a:ext>
            </a:extLst>
          </p:cNvPr>
          <p:cNvSpPr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4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CD2EC4D1-8C1B-ED13-8712-FCD217940EE6}"/>
              </a:ext>
            </a:extLst>
          </p:cNvPr>
          <p:cNvSpPr/>
          <p:nvPr/>
        </p:nvSpPr>
        <p:spPr>
          <a:xfrm>
            <a:off x="1078992" y="429768"/>
            <a:ext cx="0" cy="320040"/>
          </a:xfrm>
          <a:prstGeom prst="line">
            <a:avLst/>
          </a:prstGeom>
          <a:noFill/>
          <a:ln w="1524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7C98BDA-8439-B02D-2942-01A121676D21}"/>
              </a:ext>
            </a:extLst>
          </p:cNvPr>
          <p:cNvSpPr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05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Business Growth</a:t>
            </a:r>
            <a:endParaRPr lang="en-US" sz="17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F792AA0-2D38-483B-0919-DBD9DC431EA4}"/>
              </a:ext>
            </a:extLst>
          </p:cNvPr>
          <p:cNvSpPr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80" dirty="0">
                <a:solidFill>
                  <a:srgbClr val="48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target buyer segments and prove the solution's potential for high scalability and market commercialization</a:t>
            </a:r>
            <a:endParaRPr lang="en-US" sz="88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A784BF5E-2EAA-D6A5-08BD-99EBBDD8A160}"/>
              </a:ext>
            </a:extLst>
          </p:cNvPr>
          <p:cNvSpPr/>
          <p:nvPr/>
        </p:nvSpPr>
        <p:spPr>
          <a:xfrm>
            <a:off x="411480" y="960120"/>
            <a:ext cx="11064240" cy="0"/>
          </a:xfrm>
          <a:prstGeom prst="line">
            <a:avLst/>
          </a:prstGeom>
          <a:noFill/>
          <a:ln w="5080">
            <a:solidFill>
              <a:srgbClr val="D6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693F37F-38BC-9AA2-C820-C9D06B067169}"/>
              </a:ext>
            </a:extLst>
          </p:cNvPr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 w="12700">
            <a:solidFill>
              <a:srgbClr val="FB4D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C4A34847-FF64-7DB8-513D-DA2533660537}"/>
              </a:ext>
            </a:extLst>
          </p:cNvPr>
          <p:cNvSpPr/>
          <p:nvPr/>
        </p:nvSpPr>
        <p:spPr>
          <a:xfrm>
            <a:off x="7708392" y="1056132"/>
            <a:ext cx="9052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map</a:t>
            </a:r>
            <a:endParaRPr lang="en-US" sz="75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3F39A2F-A0F2-1BDB-5133-4A071CC75156}"/>
              </a:ext>
            </a:extLst>
          </p:cNvPr>
          <p:cNvSpPr/>
          <p:nvPr/>
        </p:nvSpPr>
        <p:spPr>
          <a:xfrm>
            <a:off x="7635240" y="100584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4B485-4155-8D06-6B61-DF24C7C03671}"/>
              </a:ext>
            </a:extLst>
          </p:cNvPr>
          <p:cNvSpPr txBox="1"/>
          <p:nvPr/>
        </p:nvSpPr>
        <p:spPr>
          <a:xfrm>
            <a:off x="7635240" y="1005840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GTM MAP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99A1F93-22E1-947A-281A-99B3EFA3D0FA}"/>
              </a:ext>
            </a:extLst>
          </p:cNvPr>
          <p:cNvSpPr/>
          <p:nvPr/>
        </p:nvSpPr>
        <p:spPr>
          <a:xfrm>
            <a:off x="868680" y="1435607"/>
            <a:ext cx="3566160" cy="3886200"/>
          </a:xfrm>
          <a:prstGeom prst="roundRect">
            <a:avLst>
              <a:gd name="adj" fmla="val 7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378188-5BDA-EED1-0C4B-0CABF835736D}"/>
              </a:ext>
            </a:extLst>
          </p:cNvPr>
          <p:cNvSpPr/>
          <p:nvPr/>
        </p:nvSpPr>
        <p:spPr>
          <a:xfrm>
            <a:off x="1143000" y="1709928"/>
            <a:ext cx="566928" cy="56692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arget_white.png">
            <a:extLst>
              <a:ext uri="{FF2B5EF4-FFF2-40B4-BE49-F238E27FC236}">
                <a16:creationId xmlns:a16="http://schemas.microsoft.com/office/drawing/2014/main" id="{EC9496EA-16B5-9C40-F182-66A0E67E2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401" y="1857329"/>
            <a:ext cx="272125" cy="2721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F4FD69F-5643-8747-C4F7-47EA8E0BFB16}"/>
              </a:ext>
            </a:extLst>
          </p:cNvPr>
          <p:cNvSpPr txBox="1"/>
          <p:nvPr/>
        </p:nvSpPr>
        <p:spPr>
          <a:xfrm>
            <a:off x="1143000" y="244144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Target Segment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7CE837-9897-E10F-EEF9-7ED9370C8767}"/>
              </a:ext>
            </a:extLst>
          </p:cNvPr>
          <p:cNvSpPr txBox="1"/>
          <p:nvPr/>
        </p:nvSpPr>
        <p:spPr>
          <a:xfrm>
            <a:off x="1143000" y="289864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AE0EA"/>
                </a:solidFill>
                <a:latin typeface="Calibri"/>
              </a:rPr>
              <a:t>Retail &amp; D2C brands modernizing legacy ETL to Snowflake.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FEFC0A-5000-052E-FD11-B8683C7A5757}"/>
              </a:ext>
            </a:extLst>
          </p:cNvPr>
          <p:cNvSpPr txBox="1"/>
          <p:nvPr/>
        </p:nvSpPr>
        <p:spPr>
          <a:xfrm>
            <a:off x="1143000" y="3584448"/>
            <a:ext cx="3017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B9CFDA"/>
                </a:solidFill>
                <a:latin typeface="Calibri"/>
              </a:rPr>
              <a:t>Highest-value entry point: de-risking pricing, discount, and customer-tier logic during migration — not customer analytics or marketing efficiency, which this framework doesn't directly produce.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D307D56-6A76-3BF9-645A-558BE83F7E11}"/>
              </a:ext>
            </a:extLst>
          </p:cNvPr>
          <p:cNvSpPr/>
          <p:nvPr/>
        </p:nvSpPr>
        <p:spPr>
          <a:xfrm>
            <a:off x="1143000" y="4608576"/>
            <a:ext cx="3017520" cy="10972"/>
          </a:xfrm>
          <a:prstGeom prst="roundRect">
            <a:avLst>
              <a:gd name="adj" fmla="val 0"/>
            </a:avLst>
          </a:prstGeom>
          <a:solidFill>
            <a:srgbClr val="2E6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C08F26-F410-6CBF-46E0-9974D425D5B7}"/>
              </a:ext>
            </a:extLst>
          </p:cNvPr>
          <p:cNvSpPr txBox="1"/>
          <p:nvPr/>
        </p:nvSpPr>
        <p:spPr>
          <a:xfrm>
            <a:off x="1143000" y="4754879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CAE0EA"/>
                </a:solidFill>
                <a:latin typeface="Calibri"/>
              </a:rPr>
              <a:t>Validated on 2 different legacy patterns — a single script and a multi-job workflow.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185D12-2E26-0457-9D39-1D3B99BA6695}"/>
              </a:ext>
            </a:extLst>
          </p:cNvPr>
          <p:cNvSpPr/>
          <p:nvPr/>
        </p:nvSpPr>
        <p:spPr>
          <a:xfrm>
            <a:off x="4754879" y="1435607"/>
            <a:ext cx="6583680" cy="141732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CEEC43D-B1A9-52F9-082B-C64E54B6D5C4}"/>
              </a:ext>
            </a:extLst>
          </p:cNvPr>
          <p:cNvSpPr/>
          <p:nvPr/>
        </p:nvSpPr>
        <p:spPr>
          <a:xfrm>
            <a:off x="4956047" y="1636775"/>
            <a:ext cx="475488" cy="475488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zap_white.png">
            <a:extLst>
              <a:ext uri="{FF2B5EF4-FFF2-40B4-BE49-F238E27FC236}">
                <a16:creationId xmlns:a16="http://schemas.microsoft.com/office/drawing/2014/main" id="{29DD4289-6993-9913-9F40-0B27D835E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674" y="1760402"/>
            <a:ext cx="228234" cy="22823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DCBBF0E-0064-9D2C-DA91-4F97CC991A3A}"/>
              </a:ext>
            </a:extLst>
          </p:cNvPr>
          <p:cNvSpPr txBox="1"/>
          <p:nvPr/>
        </p:nvSpPr>
        <p:spPr>
          <a:xfrm>
            <a:off x="5577840" y="160019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5071"/>
                </a:solidFill>
                <a:latin typeface="Calibri"/>
              </a:rPr>
              <a:t>Path 1 — Diagnostic / Audit Offering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8835C03-5E0A-A5C6-BC0B-5B71D1D9DBB8}"/>
              </a:ext>
            </a:extLst>
          </p:cNvPr>
          <p:cNvSpPr/>
          <p:nvPr/>
        </p:nvSpPr>
        <p:spPr>
          <a:xfrm>
            <a:off x="9784080" y="1600199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CD166D-CDD0-0A19-00E7-51D920094879}"/>
              </a:ext>
            </a:extLst>
          </p:cNvPr>
          <p:cNvSpPr txBox="1"/>
          <p:nvPr/>
        </p:nvSpPr>
        <p:spPr>
          <a:xfrm>
            <a:off x="9784080" y="1600199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READY TODAY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332BDF-7B41-BEBF-DF3F-5353F31E58A0}"/>
              </a:ext>
            </a:extLst>
          </p:cNvPr>
          <p:cNvSpPr txBox="1"/>
          <p:nvPr/>
        </p:nvSpPr>
        <p:spPr>
          <a:xfrm>
            <a:off x="5577840" y="2002536"/>
            <a:ext cx="5532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Run the existing pipeline against a prospect's real legacy pipeline to surface undocumented risk before a full engagement is sold. Needs no new build.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65EE474-E302-725B-B333-5F8D96844E06}"/>
              </a:ext>
            </a:extLst>
          </p:cNvPr>
          <p:cNvSpPr/>
          <p:nvPr/>
        </p:nvSpPr>
        <p:spPr>
          <a:xfrm>
            <a:off x="4754879" y="3054096"/>
            <a:ext cx="6583680" cy="1417320"/>
          </a:xfrm>
          <a:prstGeom prst="roundRect">
            <a:avLst>
              <a:gd name="adj" fmla="val 7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7B0569-1401-B018-D572-0EE7B29B9A9F}"/>
              </a:ext>
            </a:extLst>
          </p:cNvPr>
          <p:cNvSpPr/>
          <p:nvPr/>
        </p:nvSpPr>
        <p:spPr>
          <a:xfrm>
            <a:off x="4956047" y="3255264"/>
            <a:ext cx="475488" cy="475488"/>
          </a:xfrm>
          <a:prstGeom prst="ellipse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cloud_white.png">
            <a:extLst>
              <a:ext uri="{FF2B5EF4-FFF2-40B4-BE49-F238E27FC236}">
                <a16:creationId xmlns:a16="http://schemas.microsoft.com/office/drawing/2014/main" id="{A1EBCA9C-DF78-9359-1702-FF81EA7B1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674" y="3378890"/>
            <a:ext cx="228234" cy="22823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B73EDA3-E35F-0E23-4683-9E0A0D26BABD}"/>
              </a:ext>
            </a:extLst>
          </p:cNvPr>
          <p:cNvSpPr txBox="1"/>
          <p:nvPr/>
        </p:nvSpPr>
        <p:spPr>
          <a:xfrm>
            <a:off x="5577840" y="321868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5071"/>
                </a:solidFill>
                <a:latin typeface="Calibri"/>
              </a:rPr>
              <a:t>Path 2 — Tiered SaaS Accelerator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B25A950-FDD9-958C-9680-906FA75C546A}"/>
              </a:ext>
            </a:extLst>
          </p:cNvPr>
          <p:cNvSpPr/>
          <p:nvPr/>
        </p:nvSpPr>
        <p:spPr>
          <a:xfrm>
            <a:off x="9784080" y="321868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9C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B40B93-2C66-0506-C873-1D75C2444701}"/>
              </a:ext>
            </a:extLst>
          </p:cNvPr>
          <p:cNvSpPr txBox="1"/>
          <p:nvPr/>
        </p:nvSpPr>
        <p:spPr>
          <a:xfrm>
            <a:off x="9784080" y="321868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REQUIRES BUILD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3CDF6C-B675-F8BA-236E-64423E62BDFA}"/>
              </a:ext>
            </a:extLst>
          </p:cNvPr>
          <p:cNvSpPr txBox="1"/>
          <p:nvPr/>
        </p:nvSpPr>
        <p:spPr>
          <a:xfrm>
            <a:off x="5577840" y="3621024"/>
            <a:ext cx="5532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84848"/>
                </a:solidFill>
                <a:latin typeface="Calibri"/>
              </a:rPr>
              <a:t>Longer-term productized offering for repeat use across similar clients. Assumes a repeatable multi-tenant product that hasn't been built yet.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C46114C-399C-EA87-BFAE-9DE561311FF7}"/>
              </a:ext>
            </a:extLst>
          </p:cNvPr>
          <p:cNvSpPr/>
          <p:nvPr/>
        </p:nvSpPr>
        <p:spPr>
          <a:xfrm>
            <a:off x="4754879" y="4672583"/>
            <a:ext cx="6583680" cy="621792"/>
          </a:xfrm>
          <a:prstGeom prst="roundRect">
            <a:avLst>
              <a:gd name="adj" fmla="val 10000"/>
            </a:avLst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3F71A5-1B9C-BF1B-70AD-2ED4A5BCF90B}"/>
              </a:ext>
            </a:extLst>
          </p:cNvPr>
          <p:cNvSpPr txBox="1"/>
          <p:nvPr/>
        </p:nvSpPr>
        <p:spPr>
          <a:xfrm>
            <a:off x="4956047" y="4672583"/>
            <a:ext cx="6181344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4A00"/>
                </a:solidFill>
                <a:latin typeface="Calibri"/>
              </a:rPr>
              <a:t>Honest status:  </a:t>
            </a:r>
            <a:r>
              <a:rPr sz="1050" b="0" i="0">
                <a:solidFill>
                  <a:srgbClr val="6B3E00"/>
                </a:solidFill>
                <a:latin typeface="Calibri"/>
              </a:rPr>
              <a:t>both are untested ideas, not validated business models — the next real client engagement is the opportunity to prove which one lands.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4D0A"/>
                </a:solidFill>
                <a:latin typeface="Calibri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9144" cy="320040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5071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84848"/>
                </a:solidFill>
                <a:latin typeface="Calibri"/>
              </a:rPr>
              <a:t>One command runs six phases end to end — a human gate before anything is trusted, and every AI claim checked against the 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064240" cy="914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16736"/>
            <a:ext cx="10469880" cy="384048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ORCHESTRATOR    prototype/main.py</a:t>
            </a:r>
            <a:r>
              <a:rPr sz="950" b="0">
                <a:solidFill>
                  <a:srgbClr val="CAE0EA"/>
                </a:solidFill>
                <a:latin typeface="Calibri"/>
              </a:rPr>
              <a:t>       --target &lt;sql file | workflow folder&gt;       ·       --auto-approve (CI mode)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5" y="1975104"/>
            <a:ext cx="274320" cy="27432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5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AI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5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9CFDA"/>
                </a:solidFill>
                <a:latin typeface="Calibri"/>
              </a:rPr>
              <a:t>ai_analysis.py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212848"/>
            <a:ext cx="283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0904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8920" y="1975104"/>
            <a:ext cx="274320" cy="27432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Metadata</a:t>
            </a:r>
          </a:p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9CFDA"/>
                </a:solidFill>
                <a:latin typeface="Calibri"/>
              </a:rPr>
              <a:t>metadata_interpreter.py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4" y="2212848"/>
            <a:ext cx="283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81144" y="1975104"/>
            <a:ext cx="274320" cy="27432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9CFDA"/>
                </a:solidFill>
                <a:latin typeface="Calibri"/>
              </a:rPr>
              <a:t>transform.py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212848"/>
            <a:ext cx="283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3368" y="197510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B4D0A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Human Review</a:t>
            </a:r>
          </a:p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Calibri"/>
              </a:rPr>
              <a:t>main.py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2212848"/>
            <a:ext cx="283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5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65592" y="1975104"/>
            <a:ext cx="274320" cy="27432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9CFDA"/>
                </a:solidFill>
                <a:latin typeface="Calibri"/>
              </a:rPr>
              <a:t>validate.py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2212848"/>
            <a:ext cx="28346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4D0A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1847088"/>
            <a:ext cx="1508760" cy="1152144"/>
          </a:xfrm>
          <a:prstGeom prst="roundRect">
            <a:avLst>
              <a:gd name="adj" fmla="val 16000"/>
            </a:avLst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57816" y="1975104"/>
            <a:ext cx="274320" cy="274320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6" y="2286000"/>
            <a:ext cx="12893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Plan &amp;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7816" y="2752344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B9CFDA"/>
                </a:solidFill>
                <a:latin typeface="Calibri"/>
              </a:rPr>
              <a:t>planner · lineage · docs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145536"/>
            <a:ext cx="5074920" cy="1170432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325526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A8A8A"/>
                </a:solidFill>
                <a:latin typeface="Calibri"/>
              </a:rPr>
              <a:t>MODEL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39" y="325526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B4D0A"/>
                </a:solidFill>
                <a:latin typeface="Calibri"/>
              </a:rPr>
              <a:t>src/llm_client.py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1" y="3493008"/>
            <a:ext cx="1508760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5071"/>
                </a:solidFill>
                <a:latin typeface="Calibri"/>
              </a:rPr>
              <a:t>Anthropic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51760" y="3493008"/>
            <a:ext cx="1508760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5071"/>
                </a:solidFill>
                <a:latin typeface="Calibri"/>
              </a:rPr>
              <a:t>OpenAI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70248" y="3493008"/>
            <a:ext cx="1508760" cy="27432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005071"/>
                </a:solidFill>
                <a:latin typeface="Calibri"/>
              </a:rPr>
              <a:t>mock-heuristic  (default)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1" y="3858768"/>
            <a:ext cx="47457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>
                <a:solidFill>
                  <a:srgbClr val="1F2A2E"/>
                </a:solidFill>
                <a:latin typeface="Calibri"/>
              </a:rPr>
              <a:t>Provider is chosen by whichever API key is present — no code change to swap, and with no key at all the pipeline still runs end to end.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145536"/>
            <a:ext cx="5074920" cy="1170432"/>
          </a:xfrm>
          <a:prstGeom prst="roundRect">
            <a:avLst>
              <a:gd name="adj" fmla="val 16000"/>
            </a:avLst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1" y="325526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B4D0A"/>
                </a:solidFill>
                <a:latin typeface="Calibri"/>
              </a:rPr>
              <a:t>GUARDRAILS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325526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484848"/>
                </a:solidFill>
                <a:latin typeface="Calibri"/>
              </a:rPr>
              <a:t>AI output is untrusted by default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3493008"/>
            <a:ext cx="4745736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1">
                <a:solidFill>
                  <a:srgbClr val="FB4D0A"/>
                </a:solidFill>
                <a:latin typeface="Calibri"/>
              </a:rPr>
              <a:t>▪   </a:t>
            </a:r>
            <a:r>
              <a:rPr sz="850" b="0">
                <a:solidFill>
                  <a:srgbClr val="1F2A2E"/>
                </a:solidFill>
                <a:latin typeface="Calibri"/>
              </a:rPr>
              <a:t>Structured JSON, not prose — completeness is machine-checkable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1">
                <a:solidFill>
                  <a:srgbClr val="FB4D0A"/>
                </a:solidFill>
                <a:latin typeface="Calibri"/>
              </a:rPr>
              <a:t>▪   </a:t>
            </a:r>
            <a:r>
              <a:rPr sz="850" b="0">
                <a:solidFill>
                  <a:srgbClr val="1F2A2E"/>
                </a:solidFill>
                <a:latin typeface="Calibri"/>
              </a:rPr>
              <a:t>Every table and column cross-checked against the source script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850" b="1">
                <a:solidFill>
                  <a:srgbClr val="FB4D0A"/>
                </a:solidFill>
                <a:latin typeface="Calibri"/>
              </a:rPr>
              <a:t>▪   </a:t>
            </a:r>
            <a:r>
              <a:rPr sz="850" b="0">
                <a:solidFill>
                  <a:srgbClr val="1F2A2E"/>
                </a:solidFill>
                <a:latin typeface="Calibri"/>
              </a:rPr>
              <a:t>Rules it cannot justify are flagged for a human, never guessed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4462272"/>
            <a:ext cx="10469880" cy="1115568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" y="455371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8A8A8A"/>
                </a:solidFill>
                <a:latin typeface="Calibri"/>
              </a:rPr>
              <a:t>GENERATED ARTIFACTS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455371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B4D0A"/>
                </a:solidFill>
                <a:latin typeface="Calibri"/>
              </a:rPr>
              <a:t>prototype/output/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1" y="4791456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analysis.json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53128" y="4791456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metadata_interpretation.json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72983" y="4791456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dbt_models/  (staging · intermediate · marts)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1" y="5047488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sources.yml  ·  schema.yml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53128" y="5047488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validation_report.json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872983" y="5047488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migration_plan.json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3271" y="5303520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lineage.json  ·  .dot  ·  _mermaid.md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453128" y="5303520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estimates.json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72983" y="5303520"/>
            <a:ext cx="3291840" cy="23774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005071"/>
                </a:solidFill>
                <a:latin typeface="Calibri"/>
              </a:rPr>
              <a:t>migration_report.md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" y="5687568"/>
            <a:ext cx="10469880" cy="457200"/>
          </a:xfrm>
          <a:prstGeom prst="roundRect">
            <a:avLst>
              <a:gd name="adj" fmla="val 16000"/>
            </a:avLst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B4D0A"/>
                </a:solidFill>
                <a:latin typeface="Calibri"/>
              </a:rPr>
              <a:t>Verified run</a:t>
            </a:r>
            <a:r>
              <a:rPr sz="950" b="0">
                <a:solidFill>
                  <a:srgbClr val="1F2A2E"/>
                </a:solidFill>
                <a:latin typeface="Calibri"/>
              </a:rPr>
              <a:t>    mock provider, single-script target:   7 tables · 8 business rules · 2 flagged ambiguous · 7 dbt artifacts · validation PASS, all three metrics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B4D0A"/>
                </a:solidFill>
                <a:latin typeface="Calibri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10972" cy="320040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5071"/>
                </a:solidFill>
                <a:latin typeface="Calibri"/>
              </a:rPr>
              <a:t>Live Code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484848"/>
                </a:solidFill>
                <a:latin typeface="Calibri"/>
              </a:rPr>
              <a:t>What to run on screen, and what to point at — one command, reproducible with no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064240" cy="10972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4846320" cy="2542032"/>
          </a:xfrm>
          <a:prstGeom prst="roundRect">
            <a:avLst>
              <a:gd name="adj" fmla="val 5000"/>
            </a:avLst>
          </a:prstGeom>
          <a:solidFill>
            <a:srgbClr val="0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371600"/>
            <a:ext cx="4846320" cy="274320"/>
          </a:xfrm>
          <a:prstGeom prst="roundRect">
            <a:avLst>
              <a:gd name="adj" fmla="val 16000"/>
            </a:avLst>
          </a:prstGeom>
          <a:solidFill>
            <a:srgbClr val="163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FB2C1"/>
                </a:solidFill>
                <a:latin typeface="Calibri"/>
              </a:rPr>
              <a:t>   TERMINAL   —   working directory:  prototype/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5648"/>
            <a:ext cx="4517136" cy="2039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2C893"/>
                </a:solidFill>
                <a:latin typeface="Consolas"/>
              </a:rPr>
              <a:t>$ cd prototype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2C893"/>
                </a:solidFill>
                <a:latin typeface="Consolas"/>
              </a:rPr>
              <a:t>$ python main.py --auto-approve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/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8FB2C1"/>
                </a:solidFill>
                <a:latin typeface="Consolas"/>
              </a:rPr>
              <a:t>Running pipeline with provider: mock (mock-heuristic-v1)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--- Phase 2: AI Analysis Layer ---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Extracted 7 tables, 8 business rules.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--- Phase 3: Transformation Layer ---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Generated 7 dbt/Snowflake artifact files.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8A4D"/>
                </a:solidFill>
                <a:latin typeface="Consolas"/>
              </a:rPr>
              <a:t>--- HUMAN-IN-THE-LOOP CHECKPOINT ---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FF8A4D"/>
                </a:solidFill>
                <a:latin typeface="Consolas"/>
              </a:rPr>
              <a:t>2 rule(s) flagged for mandatory human review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--- Phase 4: Validation Layer ---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2C893"/>
                </a:solidFill>
                <a:latin typeface="Consolas"/>
              </a:rPr>
              <a:t>Validation status: PASS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2C893"/>
                </a:solidFill>
                <a:latin typeface="Consolas"/>
              </a:rPr>
              <a:t>  PASS: Entity Grounding Accuracy: 100.0%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2C893"/>
                </a:solidFill>
                <a:latin typeface="Consolas"/>
              </a:rPr>
              <a:t>  PASS: Business Rule Extraction Coverage: 100.0%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2C893"/>
                </a:solidFill>
                <a:latin typeface="Consolas"/>
              </a:rPr>
              <a:t>  PASS: Ambiguity Flag Recall: 100.0%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D5E6ED"/>
                </a:solidFill>
                <a:latin typeface="Consolas"/>
              </a:rPr>
              <a:t>Pipeline complete. See prototype/output/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041648"/>
            <a:ext cx="4846320" cy="1700784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187952"/>
            <a:ext cx="444398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B4D0A"/>
                </a:solidFill>
                <a:latin typeface="Calibri"/>
              </a:rPr>
              <a:t>THEN RUN IT AGAIN WITHOUT --auto-approve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462272"/>
            <a:ext cx="4443983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8A4A00"/>
                </a:solidFill>
                <a:latin typeface="Consolas"/>
              </a:rPr>
              <a:t>$ python main.py</a:t>
            </a:r>
          </a:p>
          <a:p>
            <a:pPr algn="l">
              <a:lnSpc>
                <a:spcPct val="98000"/>
              </a:lnSpc>
              <a:spcBef>
                <a:spcPts val="400"/>
              </a:spcBef>
              <a:spcAft>
                <a:spcPts val="0"/>
              </a:spcAft>
            </a:pPr>
            <a:r>
              <a:rPr sz="880" b="0">
                <a:solidFill>
                  <a:srgbClr val="6B3E00"/>
                </a:solidFill>
                <a:latin typeface="Consolas"/>
              </a:rPr>
              <a:t>Rule ID: AI-04  Order Aging Discount Exception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3E00"/>
                </a:solidFill>
                <a:latin typeface="Consolas"/>
              </a:rPr>
              <a:t>Choose action: [a]pprove as-is, [e]dit description,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B3E00"/>
                </a:solidFill>
                <a:latin typeface="Consolas"/>
              </a:rPr>
              <a:t>               [r]eject and halt pipeline</a:t>
            </a:r>
          </a:p>
          <a:p>
            <a:pPr algn="l">
              <a:lnSpc>
                <a:spcPct val="98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1">
                <a:solidFill>
                  <a:srgbClr val="8A4A00"/>
                </a:solidFill>
                <a:latin typeface="Calibri"/>
              </a:rPr>
              <a:t>Reject halts the run. The framework will not ship a rule a reviewer has not signed off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5349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8A8A8A"/>
                </a:solidFill>
                <a:latin typeface="Calibri"/>
              </a:rPr>
              <a:t>WHAT TO POINT AT, IN THIS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627632"/>
            <a:ext cx="5349240" cy="9692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627632"/>
            <a:ext cx="68580" cy="969264"/>
          </a:xfrm>
          <a:prstGeom prst="rect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7282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4D0A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1907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071"/>
                </a:solidFill>
                <a:latin typeface="Calibri"/>
              </a:rPr>
              <a:t>The guardrail firing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737360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6D86"/>
                </a:solidFill>
                <a:latin typeface="Consolas"/>
              </a:rPr>
              <a:t>output/analysis.json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011680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84848"/>
                </a:solidFill>
                <a:latin typeface="Calibri"/>
              </a:rPr>
              <a:t>Rules AI-04 and AI-07 carry ambiguity_flag: true plus confidence_notes. The model declines to invent a rationale it cannot find in the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688336"/>
            <a:ext cx="5349240" cy="9692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2688336"/>
            <a:ext cx="68580" cy="969264"/>
          </a:xfrm>
          <a:prstGeom prst="rect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278892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4D0A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7977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071"/>
                </a:solidFill>
                <a:latin typeface="Calibri"/>
              </a:rPr>
              <a:t>The generated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98064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6D86"/>
                </a:solidFill>
                <a:latin typeface="Consolas"/>
              </a:rPr>
              <a:t>output/dbt_models/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072384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84848"/>
                </a:solidFill>
                <a:latin typeface="Calibri"/>
              </a:rPr>
              <a:t>A real dbt layout — staging → intermediate → marts, with sources.yml and schema.yml. Reviewable SQL, not pseudocode.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749040"/>
            <a:ext cx="5349240" cy="9692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3749040"/>
            <a:ext cx="68580" cy="969264"/>
          </a:xfrm>
          <a:prstGeom prst="rect">
            <a:avLst/>
          </a:prstGeom>
          <a:solidFill>
            <a:srgbClr val="005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384962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4D0A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84048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071"/>
                </a:solidFill>
                <a:latin typeface="Calibri"/>
              </a:rPr>
              <a:t>The fact-check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85876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6D86"/>
                </a:solidFill>
                <a:latin typeface="Consolas"/>
              </a:rPr>
              <a:t>output/validation_report.json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133088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84848"/>
                </a:solidFill>
                <a:latin typeface="Calibri"/>
              </a:rPr>
              <a:t>Three metrics scored against hand-annotated ground_truth_rules.json. Thresholds and logic live in src/validate.py — open it if challenged.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89320" y="4809744"/>
            <a:ext cx="5349240" cy="969264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4809744"/>
            <a:ext cx="68580" cy="969264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491032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B4D0A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9011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5071"/>
                </a:solidFill>
                <a:latin typeface="Calibri"/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919472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6D86"/>
                </a:solidFill>
                <a:latin typeface="Consolas"/>
              </a:rPr>
              <a:t>output/migration_report.md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5193792"/>
            <a:ext cx="4480559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484848"/>
                </a:solidFill>
                <a:latin typeface="Calibri"/>
              </a:rPr>
              <a:t>Plus migration_plan.json — dependency-ordered steps with effort and blocking flags — and lineage_mermaid.md, which renders straight in a browser.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85216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Calibri"/>
              </a:rPr>
              <a:t>Fallback if anything goes wrong: prototype/output/ is already populated from a previous run — walk the artifacts instead.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47472"/>
            <a:ext cx="5669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B4D0A"/>
                </a:solidFill>
                <a:latin typeface="Calibri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078992" y="429768"/>
            <a:ext cx="9144" cy="320040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256032"/>
            <a:ext cx="8046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5071"/>
                </a:solidFill>
                <a:latin typeface="Calibri"/>
              </a:rPr>
              <a:t>Inside Each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649224"/>
            <a:ext cx="9509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484848"/>
                </a:solidFill>
                <a:latin typeface="Calibri"/>
              </a:rPr>
              <a:t>What every phase reads, what it decides, and the artifact it leaves behind — six steps, one command, one mandatory human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11064240" cy="914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98448"/>
            <a:ext cx="91440" cy="484632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316736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389888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1" y="1517904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4173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AI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71907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src/ai_analysis.py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39" y="1453895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17320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Reads the legacy SQL — a single script, or every job listed in a workflow manifest — and extracts tables, business rules and dependencies as structured JSON, flagging any rule it cannot justify from the source.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453895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9903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analysis.json</a:t>
            </a:r>
          </a:p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(+ one file per workflow job)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057400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130552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3271" y="2258568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15798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Metadata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245973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src/metadata_interpreter.py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39" y="2194560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2157984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Cross-references the declared metadata against the SQL that actually runs: columns documented but never used, columns used but never documented, and comments that contradict the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194560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13969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31343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metadata_interpretation.json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2798064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2871216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3271" y="2999232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289864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Transformation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320040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src/transform.py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39" y="2935224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2898648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Rebuilds the logic as a Snowflake-ready dbt project — staging → intermediate → marts — with sources and tests declared, so what a reviewer reads is real SQL, not pseudocode.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2935224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2880360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054096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dbt_models/  ·  sources.yml</a:t>
            </a:r>
          </a:p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schema.yml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538728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3EA"/>
          </a:solidFill>
          <a:ln w="12700">
            <a:solidFill>
              <a:srgbClr val="FB4D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3611880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33271" y="3739896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3639312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Human Review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394106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main.py  ·  human_checkpoint()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39" y="3675888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639312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Every ambiguity-flagged rule must be approved, edited or rejected by a reviewer. Reject halts the run — the framework will not ship a rule nobody signed off on. --auto-approve keeps CI non-interactive.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3675888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36210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7947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reviewer-approved rule set</a:t>
            </a:r>
          </a:p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(or a halted pipeline)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4279392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" y="4352544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3271" y="4480559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752" y="437997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Validation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4752" y="468172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src/validate.py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39" y="4416552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4379976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Scores the AI output against hand-annotated ground truth on three metrics — entity grounding, business rule coverage, ambiguity recall — and returns PASS or REVIEW_REQUIRED.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4416552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436168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535424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validation_report.json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8680" y="5020056"/>
            <a:ext cx="1046988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8680" y="5093208"/>
            <a:ext cx="64008" cy="548640"/>
          </a:xfrm>
          <a:prstGeom prst="rect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3271" y="5221224"/>
            <a:ext cx="292608" cy="292608"/>
          </a:xfrm>
          <a:prstGeom prst="ellipse">
            <a:avLst/>
          </a:prstGeom>
          <a:solidFill>
            <a:srgbClr val="FB4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44752" y="512064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" b="1">
                <a:solidFill>
                  <a:srgbClr val="005071"/>
                </a:solidFill>
                <a:latin typeface="Calibri"/>
              </a:rPr>
              <a:t>Plan &amp; Output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4752" y="542239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50" b="1">
                <a:solidFill>
                  <a:srgbClr val="FB4D0A"/>
                </a:solidFill>
                <a:latin typeface="Calibri"/>
              </a:rPr>
              <a:t>planner · lineage · estimator · docs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20439" y="5157216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0" y="5120640"/>
            <a:ext cx="448056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" b="0">
                <a:solidFill>
                  <a:srgbClr val="1F2A2E"/>
                </a:solidFill>
                <a:latin typeface="Calibri"/>
              </a:rPr>
              <a:t>Sequences the migration by dependency with effort and blocking flags, draws the lineage graph, estimates effort and cost, and writes the migration report a reviewer actually reads.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5157216"/>
            <a:ext cx="9144" cy="420624"/>
          </a:xfrm>
          <a:prstGeom prst="rect">
            <a:avLst/>
          </a:prstGeom>
          <a:solidFill>
            <a:srgbClr val="D6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5102352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8A8A8A"/>
                </a:solidFill>
                <a:latin typeface="Calibri"/>
              </a:rPr>
              <a:t>PRODUCES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27608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migration_plan.json  ·  lineage.*</a:t>
            </a:r>
          </a:p>
          <a:p>
            <a:pPr algn="l">
              <a:lnSpc>
                <a:spcPct val="95000"/>
              </a:lnSpc>
            </a:pPr>
            <a:r>
              <a:rPr sz="850" b="1">
                <a:solidFill>
                  <a:srgbClr val="005071"/>
                </a:solidFill>
                <a:latin typeface="Calibri"/>
              </a:rPr>
              <a:t>estimates.json  ·  migration_report.md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" y="5779008"/>
            <a:ext cx="10469880" cy="365760"/>
          </a:xfrm>
          <a:prstGeom prst="roundRect">
            <a:avLst>
              <a:gd name="adj" fmla="val 16000"/>
            </a:avLst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005071"/>
                </a:solidFill>
                <a:latin typeface="Calibri"/>
              </a:rPr>
              <a:t>Phase 1 is the only model-dependent step.</a:t>
            </a:r>
            <a:r>
              <a:rPr sz="950" b="0">
                <a:solidFill>
                  <a:srgbClr val="1F2A2E"/>
                </a:solidFill>
                <a:latin typeface="Calibri"/>
              </a:rPr>
              <a:t>   Phases 2–6 are deterministic Python — so if the model is wrong, it is caught by code and by a reviewer, not shipped downstream.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824</Words>
  <Application>Microsoft Macintosh PowerPoint</Application>
  <PresentationFormat>Widescreen</PresentationFormat>
  <Paragraphs>134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EXL Hackathon Participant Template</dc:title>
  <dc:subject>PptxGenJS Presentation</dc:subject>
  <dc:creator>Neha Kumari</dc:creator>
  <cp:lastModifiedBy>Anil Panuganti</cp:lastModifiedBy>
  <cp:revision>6</cp:revision>
  <dcterms:created xsi:type="dcterms:W3CDTF">2026-07-31T09:30:19Z</dcterms:created>
  <dcterms:modified xsi:type="dcterms:W3CDTF">2026-08-27T11:55:23Z</dcterms:modified>
</cp:coreProperties>
</file>