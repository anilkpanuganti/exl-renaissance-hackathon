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92CED-258F-E948-B16D-84296C89275E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74D5C-1A4B-7F4F-8BAA-2D2477B42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B7F2-E0CE-94A1-8ECC-AEB23238E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2156F-99A4-8BCD-75DB-E45C86F84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C9BF2-0066-181B-2C54-90CC097E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5D9F3-EA80-A5CA-6833-2DCBD157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8B006-0DF5-40B1-B388-68ECE53F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3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2208-04F5-6F1D-6E28-D848C4C7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D2F0-58CE-F78F-FF57-4A27D470D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953A-37FB-76F0-B5E6-2E12578A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F8354-2A5A-144C-7562-3A1C5A77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AB027-13CD-56D0-8E35-F414EF28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7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4607-10BD-4E31-0348-64508F08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5F30-3383-B8E7-B04D-6F4C3745E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F42ED-7EA5-2D25-0F9D-6C2F761E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8AA7-4FDA-0585-3F3B-D25C0172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D7513-F055-4634-A799-3126146B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6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7E2D-342F-0C0B-BE1D-30011FE0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B719-494B-FB6C-5E87-2E0874BB4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FA088-96DD-054E-6544-BB9AC049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1E03D-9035-F3D7-F309-E78B3C87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90BCF-7823-345A-A919-BFD3D1C2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2192C-6158-9E89-3FB8-9178AA9C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0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D6B5-DA5B-75EF-8C7B-8B35AAC6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04E4-9906-8F04-FFE1-FA0882635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C06CA-6CA4-0884-0B43-98F46F2FA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B517A-ED6D-F6EE-6FA1-38E4201B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36B89-C34E-BF89-E947-BF3A3BDF2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DF375-DB61-A732-8CE3-A4E0A4FC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1E861-8538-DEE5-0314-C72168E0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BD920-AFCA-CF98-8DB3-CA4479DC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0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421B-A361-4049-E4F5-C72000EF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A9760-F7AD-881D-49C1-D0D1C27AE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CE5DC-EE62-D5D5-CE5F-1E4E5013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F7714-DC1A-3D71-EE36-0B2B907C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8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091A3-CC6E-26E0-1D87-CB6F0769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C8BB-DC15-C27F-4CB3-669ABE7B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D4708-65DD-7A19-99EF-F8BF86E8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1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CE00-2E20-EBCC-C590-E389F224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EEBB-5EEE-B4B8-F470-BB1E51AA3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B666-9F3E-437F-E223-C8ABBE8DF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67DE5-B262-E505-0318-B68E4DE4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6DE38-CB06-9EB3-D29E-95AFA5E5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155D2-682A-D9F5-8316-D50D6BB0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8C74-F95E-8680-AF40-88F4F9C2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80D7C-12B7-B41C-EF0A-6FDF38DA0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B41D1-6F25-73BC-7F78-0ED0965E3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70DE-702A-47D5-D585-8683E254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7F54B-3265-686A-AF5E-9D590A0B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3F5F1-9D6D-3ECB-28E7-C3B63A49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7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4C69-50D9-2DD5-D399-83955B82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41139-1BB8-F3B3-8918-0A45525A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51D08-0410-4023-3934-6899D48A6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0D2AE-DCA2-D3BC-0E02-E5AC1BEF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F6085-DE1D-FBE1-FB18-B27CE3E1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1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D6763-313C-CDB6-0160-9753EFB5B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82B6B-19AF-402C-2114-CD01860AF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60A71-55DA-5CDC-8282-DBED12CC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A6E4-7914-260C-39BA-4ED63B14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95822-6CB2-B1B1-5102-27CE98AB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3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43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EBA8A-E9F7-1010-50B9-648F2A5A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CAFD2-BFAE-3715-C77F-317467374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8B4C-2A2E-206A-5AD7-83BD5810F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85331-8A7E-5B41-AE17-F95986F028D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BE49-DB83-02F6-4B94-0EB2CBB17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07F7-4A1F-E586-13C2-413D6080E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C154A-CE14-804C-98C2-3CBCABDA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0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15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27" y="422305"/>
            <a:ext cx="1241631" cy="291997"/>
          </a:xfrm>
          <a:prstGeom prst="roundRect">
            <a:avLst>
              <a:gd name="adj" fmla="val 50000"/>
            </a:avLst>
          </a:prstGeom>
          <a:solidFill>
            <a:srgbClr val="2E3643">
              <a:alpha val="8000"/>
            </a:srgbClr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730104" y="546071"/>
            <a:ext cx="44391" cy="44391"/>
          </a:xfrm>
          <a:prstGeom prst="ellipse">
            <a:avLst/>
          </a:prstGeom>
          <a:solidFill>
            <a:srgbClr val="2E364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825280" y="453981"/>
            <a:ext cx="1051711" cy="254044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48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NON-UTILITY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1990843" y="406356"/>
            <a:ext cx="2159045" cy="349294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rmAutofit/>
          </a:bodyPr>
          <a:lstStyle/>
          <a:p>
            <a:pPr>
              <a:lnSpc>
                <a:spcPct val="125182"/>
              </a:lnSpc>
            </a:pPr>
            <a:r>
              <a:rPr lang="en-US" sz="1700" b="1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Project Renaissance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4067896" y="434946"/>
            <a:ext cx="93501" cy="2920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400">
                <a:solidFill>
                  <a:srgbClr val="9A9FA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·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224882" y="444500"/>
            <a:ext cx="355659" cy="27300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5357"/>
              </a:lnSpc>
            </a:pPr>
            <a:r>
              <a:rPr lang="en-US" sz="1300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C&amp;A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644026" y="434946"/>
            <a:ext cx="93501" cy="2920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400">
                <a:solidFill>
                  <a:srgbClr val="9A9FA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·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801013" y="444500"/>
            <a:ext cx="1785864" cy="27300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5357"/>
              </a:lnSpc>
            </a:pPr>
            <a:r>
              <a:rPr lang="en-US" sz="1300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Legacy Modernization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4927" y="869892"/>
            <a:ext cx="10922075" cy="6350"/>
          </a:xfrm>
          <a:prstGeom prst="rect">
            <a:avLst/>
          </a:prstGeom>
          <a:solidFill>
            <a:srgbClr val="DDDFE2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34927" y="1053997"/>
            <a:ext cx="253927" cy="25356"/>
          </a:xfrm>
          <a:prstGeom prst="rect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34927" y="1130139"/>
            <a:ext cx="7007395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72">
                <a:solidFill>
                  <a:srgbClr val="FB4E0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PROBLEM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34927" y="1396853"/>
            <a:ext cx="6561470" cy="61983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Legacy migrations carry undocumented business rules that exist only as tribal knowledge; discovery, not rewriting, is the biggest risk. Because that knowledge is undocumented, failing to discover a rule at all is the real risk, not rewriting the code around it.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34927" y="2105569"/>
            <a:ext cx="253927" cy="25356"/>
          </a:xfrm>
          <a:prstGeom prst="rect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34927" y="2181711"/>
            <a:ext cx="7007395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72">
                <a:solidFill>
                  <a:srgbClr val="FB4E0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SOLUTION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34927" y="2448426"/>
            <a:ext cx="6561470" cy="81797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AI framework that extracts rules from legacy SQL, transforms them into a Snowflake/dbt-ready design, fact-checks every claim against source, and routes ambiguous rules to a human. Every extracted rule is checked against the original source before a human reviews it, and anything ambiguous is routed to a person rather than guessed.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34927" y="3355285"/>
            <a:ext cx="253927" cy="25356"/>
          </a:xfrm>
          <a:prstGeom prst="rect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34927" y="3431426"/>
            <a:ext cx="7007395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72">
                <a:solidFill>
                  <a:srgbClr val="FB4E0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DIFFERENTIATION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34927" y="3698141"/>
            <a:ext cx="6561470" cy="42168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Built-in fact-checking and human-in-the-loop review, versus syntax-only converters that translate code as written, or generic copilots that can invent plausible-sounding rules.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34927" y="4208713"/>
            <a:ext cx="6370359" cy="901641"/>
          </a:xfrm>
          <a:prstGeom prst="roundRect">
            <a:avLst>
              <a:gd name="adj" fmla="val 5634"/>
            </a:avLst>
          </a:prstGeom>
          <a:solidFill>
            <a:srgbClr val="F6F7F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761854" y="4310283"/>
            <a:ext cx="6728157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72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HIGHLIGHTS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761853" y="4646819"/>
            <a:ext cx="38071" cy="38071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863350" y="4589713"/>
            <a:ext cx="4792406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03846"/>
              </a:lnSpc>
            </a:pPr>
            <a:r>
              <a:rPr lang="en-US" sz="1200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 of 2 ambiguous rules were correctly flagged for human review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761853" y="4875389"/>
            <a:ext cx="38071" cy="38071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863350" y="4818283"/>
            <a:ext cx="474446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03846"/>
              </a:lnSpc>
            </a:pPr>
            <a:r>
              <a:rPr lang="en-US" sz="1200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 AI claim is fact-checked against the source before review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7310071" y="1053998"/>
            <a:ext cx="4246931" cy="706143"/>
          </a:xfrm>
          <a:prstGeom prst="roundRect">
            <a:avLst>
              <a:gd name="adj" fmla="val 7194"/>
            </a:avLst>
          </a:prstGeom>
          <a:solidFill>
            <a:srgbClr val="F6F7F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449712" y="1168283"/>
            <a:ext cx="4364413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72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7449712" y="1447713"/>
            <a:ext cx="4364413" cy="2235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08000"/>
              </a:lnSpc>
            </a:pPr>
            <a:r>
              <a:rPr lang="en-US" sz="1200">
                <a:solidFill>
                  <a:srgbClr val="2E3643"/>
                </a:solidFill>
                <a:latin typeface="Fira Sans"/>
                <a:ea typeface="Fira Sans" pitchFamily="34" charset="-122"/>
                <a:cs typeface="Fira Sans" pitchFamily="34" charset="-120"/>
              </a:rPr>
              <a:t>Vinod Kumar Sharma, Anil Panuganti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7310071" y="1836282"/>
            <a:ext cx="4246931" cy="799924"/>
          </a:xfrm>
          <a:prstGeom prst="roundRect">
            <a:avLst>
              <a:gd name="adj" fmla="val 3175"/>
            </a:avLst>
          </a:prstGeom>
          <a:solidFill>
            <a:srgbClr val="F6F7F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7411641" y="1912423"/>
            <a:ext cx="933759" cy="253927"/>
          </a:xfrm>
          <a:prstGeom prst="roundRect">
            <a:avLst>
              <a:gd name="adj" fmla="val 10003"/>
            </a:avLst>
          </a:prstGeom>
          <a:solidFill>
            <a:srgbClr val="E6F6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7475141" y="1925123"/>
            <a:ext cx="857559" cy="25392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 kern="0" spc="60">
                <a:solidFill>
                  <a:srgbClr val="00507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VALIDATED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7411641" y="2261600"/>
            <a:ext cx="253927" cy="253927"/>
          </a:xfrm>
          <a:prstGeom prst="ellipse">
            <a:avLst/>
          </a:prstGeom>
          <a:solidFill>
            <a:srgbClr val="E6F6FB"/>
          </a:solidFill>
          <a:ln/>
        </p:spPr>
        <p:txBody>
          <a:bodyPr/>
          <a:lstStyle/>
          <a:p>
            <a:endParaRPr lang="en-US" sz="120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8748" y="2318706"/>
            <a:ext cx="139641" cy="13964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754425" y="2217135"/>
            <a:ext cx="3931973" cy="1930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1385"/>
              </a:lnSpc>
            </a:pPr>
            <a:r>
              <a:rPr lang="en-US" sz="1200" b="1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100%</a:t>
            </a:r>
            <a:endParaRPr lang="en-US" sz="1200"/>
          </a:p>
        </p:txBody>
      </p:sp>
      <p:sp>
        <p:nvSpPr>
          <p:cNvPr id="35" name="Text 32"/>
          <p:cNvSpPr/>
          <p:nvPr/>
        </p:nvSpPr>
        <p:spPr>
          <a:xfrm>
            <a:off x="7754425" y="2384778"/>
            <a:ext cx="3931973" cy="20068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5538"/>
              </a:lnSpc>
            </a:pPr>
            <a:r>
              <a:rPr lang="en-US" sz="1200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Business rules identified, zero fabricated references</a:t>
            </a:r>
            <a:endParaRPr lang="en-US" sz="1200"/>
          </a:p>
        </p:txBody>
      </p:sp>
      <p:sp>
        <p:nvSpPr>
          <p:cNvPr id="36" name="Shape 33"/>
          <p:cNvSpPr/>
          <p:nvPr/>
        </p:nvSpPr>
        <p:spPr>
          <a:xfrm>
            <a:off x="7310071" y="2712347"/>
            <a:ext cx="4246931" cy="495212"/>
          </a:xfrm>
          <a:prstGeom prst="roundRect">
            <a:avLst>
              <a:gd name="adj" fmla="val 5129"/>
            </a:avLst>
          </a:prstGeom>
          <a:solidFill>
            <a:srgbClr val="E6F6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7411641" y="2832953"/>
            <a:ext cx="253927" cy="25392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20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8748" y="2890059"/>
            <a:ext cx="139641" cy="139641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754425" y="2788488"/>
            <a:ext cx="3937229" cy="1930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1385"/>
              </a:lnSpc>
            </a:pPr>
            <a:r>
              <a:rPr lang="en-US" sz="1200" b="1">
                <a:solidFill>
                  <a:srgbClr val="2E364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 of 2</a:t>
            </a:r>
            <a:endParaRPr lang="en-US" sz="1200"/>
          </a:p>
        </p:txBody>
      </p:sp>
      <p:sp>
        <p:nvSpPr>
          <p:cNvPr id="40" name="Text 36"/>
          <p:cNvSpPr/>
          <p:nvPr/>
        </p:nvSpPr>
        <p:spPr>
          <a:xfrm>
            <a:off x="7754425" y="2956131"/>
            <a:ext cx="3937229" cy="20068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95538"/>
              </a:lnSpc>
            </a:pPr>
            <a:r>
              <a:rPr lang="en-US" sz="1200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Ambiguous rules correctly flagged for human review</a:t>
            </a:r>
            <a:endParaRPr lang="en-US" sz="1200"/>
          </a:p>
        </p:txBody>
      </p:sp>
      <p:sp>
        <p:nvSpPr>
          <p:cNvPr id="41" name="Shape 37"/>
          <p:cNvSpPr/>
          <p:nvPr/>
        </p:nvSpPr>
        <p:spPr>
          <a:xfrm>
            <a:off x="634927" y="5816645"/>
            <a:ext cx="10922075" cy="761927"/>
          </a:xfrm>
          <a:prstGeom prst="roundRect">
            <a:avLst>
              <a:gd name="adj" fmla="val 6667"/>
            </a:avLst>
          </a:prstGeom>
          <a:solidFill>
            <a:srgbClr val="F6F7F8"/>
          </a:solidFill>
          <a:ln w="14111">
            <a:solidFill>
              <a:srgbClr val="C6C9CE"/>
            </a:solidFill>
            <a:prstDash val="dash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Shape 38"/>
          <p:cNvSpPr/>
          <p:nvPr/>
        </p:nvSpPr>
        <p:spPr>
          <a:xfrm>
            <a:off x="2434535" y="6019786"/>
            <a:ext cx="355571" cy="35557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111">
            <a:solidFill>
              <a:srgbClr val="C6C9CE"/>
            </a:solidFill>
            <a:prstDash val="dash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3391" y="6108642"/>
            <a:ext cx="177785" cy="177785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17031" y="5959446"/>
            <a:ext cx="7524399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 b="1">
                <a:solidFill>
                  <a:srgbClr val="6D727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Solution walkthrough — architecture diagram, UI screenshot, or demo capture to be added by team</a:t>
            </a:r>
            <a:endParaRPr lang="en-US" sz="1200"/>
          </a:p>
        </p:txBody>
      </p:sp>
      <p:sp>
        <p:nvSpPr>
          <p:cNvPr id="45" name="Text 40"/>
          <p:cNvSpPr/>
          <p:nvPr/>
        </p:nvSpPr>
        <p:spPr>
          <a:xfrm>
            <a:off x="2917031" y="6207126"/>
            <a:ext cx="7524399" cy="25404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4615"/>
              </a:lnSpc>
            </a:pPr>
            <a:r>
              <a:rPr lang="en-US" sz="1200">
                <a:solidFill>
                  <a:srgbClr val="9A9FA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Recommended: 1 hero screenshot or a 3-step flow diagram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Fira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Panuganti</dc:creator>
  <cp:lastModifiedBy>Anil Panuganti</cp:lastModifiedBy>
  <cp:revision>1</cp:revision>
  <dcterms:created xsi:type="dcterms:W3CDTF">2026-09-09T16:50:14Z</dcterms:created>
  <dcterms:modified xsi:type="dcterms:W3CDTF">2026-09-09T16:50:41Z</dcterms:modified>
</cp:coreProperties>
</file>