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8ED70-BFFB-4D98-9196-9D20B17EDB9D}" v="8" dt="2026-07-31T16:05:57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Kadyan" userId="d6051f5d-5031-43da-9fd2-87de6df243b0" providerId="ADAL" clId="{CF1C6EEC-0A29-42D8-A6EF-898A4BA81E50}"/>
    <pc:docChg chg="undo custSel modSld">
      <pc:chgData name="Abhinav Kadyan" userId="d6051f5d-5031-43da-9fd2-87de6df243b0" providerId="ADAL" clId="{CF1C6EEC-0A29-42D8-A6EF-898A4BA81E50}" dt="2026-07-31T16:06:34.247" v="98" actId="6549"/>
      <pc:docMkLst>
        <pc:docMk/>
      </pc:docMkLst>
      <pc:sldChg chg="modSp mod">
        <pc:chgData name="Abhinav Kadyan" userId="d6051f5d-5031-43da-9fd2-87de6df243b0" providerId="ADAL" clId="{CF1C6EEC-0A29-42D8-A6EF-898A4BA81E50}" dt="2026-07-31T14:53:57.655" v="14" actId="27636"/>
        <pc:sldMkLst>
          <pc:docMk/>
          <pc:sldMk cId="0" sldId="256"/>
        </pc:sldMkLst>
        <pc:spChg chg="mod">
          <ac:chgData name="Abhinav Kadyan" userId="d6051f5d-5031-43da-9fd2-87de6df243b0" providerId="ADAL" clId="{CF1C6EEC-0A29-42D8-A6EF-898A4BA81E50}" dt="2026-07-31T14:53:57.639" v="11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39" v="9" actId="276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39" v="10" actId="276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55" v="14" actId="276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55" v="12" actId="2763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55" v="13" actId="27636"/>
          <ac:spMkLst>
            <pc:docMk/>
            <pc:sldMk cId="0" sldId="256"/>
            <ac:spMk id="37" creationId="{00000000-0000-0000-0000-000000000000}"/>
          </ac:spMkLst>
        </pc:spChg>
      </pc:sldChg>
      <pc:sldChg chg="addSp delSp modSp mod">
        <pc:chgData name="Abhinav Kadyan" userId="d6051f5d-5031-43da-9fd2-87de6df243b0" providerId="ADAL" clId="{CF1C6EEC-0A29-42D8-A6EF-898A4BA81E50}" dt="2026-07-31T14:54:39.037" v="22" actId="20577"/>
        <pc:sldMkLst>
          <pc:docMk/>
          <pc:sldMk cId="0" sldId="257"/>
        </pc:sldMkLst>
        <pc:spChg chg="mod">
          <ac:chgData name="Abhinav Kadyan" userId="d6051f5d-5031-43da-9fd2-87de6df243b0" providerId="ADAL" clId="{CF1C6EEC-0A29-42D8-A6EF-898A4BA81E50}" dt="2026-07-31T14:53:57.625" v="8"/>
          <ac:spMkLst>
            <pc:docMk/>
            <pc:sldMk cId="0" sldId="257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4:39.037" v="22" actId="20577"/>
          <ac:spMkLst>
            <pc:docMk/>
            <pc:sldMk cId="0" sldId="257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1.801" v="0" actId="478"/>
          <ac:spMkLst>
            <pc:docMk/>
            <pc:sldMk cId="0" sldId="257"/>
            <ac:spMk id="7" creationId="{00000000-0000-0000-0000-000000000000}"/>
          </ac:spMkLst>
        </pc:spChg>
        <pc:spChg chg="add del">
          <ac:chgData name="Abhinav Kadyan" userId="d6051f5d-5031-43da-9fd2-87de6df243b0" providerId="ADAL" clId="{CF1C6EEC-0A29-42D8-A6EF-898A4BA81E50}" dt="2026-07-31T14:53:28.831" v="7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4.966" v="1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6.270" v="2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0.286" v="4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9.034" v="3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7" creationId="{00000000-0000-0000-0000-000000000000}"/>
          </ac:spMkLst>
        </pc:spChg>
      </pc:sldChg>
      <pc:sldChg chg="delSp modSp mod">
        <pc:chgData name="Abhinav Kadyan" userId="d6051f5d-5031-43da-9fd2-87de6df243b0" providerId="ADAL" clId="{CF1C6EEC-0A29-42D8-A6EF-898A4BA81E50}" dt="2026-07-31T16:06:26.776" v="96" actId="6549"/>
        <pc:sldMkLst>
          <pc:docMk/>
          <pc:sldMk cId="0" sldId="258"/>
        </pc:sldMkLst>
        <pc:spChg chg="mod">
          <ac:chgData name="Abhinav Kadyan" userId="d6051f5d-5031-43da-9fd2-87de6df243b0" providerId="ADAL" clId="{CF1C6EEC-0A29-42D8-A6EF-898A4BA81E50}" dt="2026-07-31T14:55:11.578" v="31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6:06:26.776" v="96" actId="6549"/>
          <ac:spMkLst>
            <pc:docMk/>
            <pc:sldMk cId="0" sldId="258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48.511" v="23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5.074" v="26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2.990" v="25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7.270" v="28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6.407" v="27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5" creationId="{00000000-0000-0000-0000-000000000000}"/>
          </ac:spMkLst>
        </pc:spChg>
      </pc:sldChg>
      <pc:sldChg chg="delSp modSp mod">
        <pc:chgData name="Abhinav Kadyan" userId="d6051f5d-5031-43da-9fd2-87de6df243b0" providerId="ADAL" clId="{CF1C6EEC-0A29-42D8-A6EF-898A4BA81E50}" dt="2026-07-31T16:06:31.442" v="97" actId="6549"/>
        <pc:sldMkLst>
          <pc:docMk/>
          <pc:sldMk cId="0" sldId="259"/>
        </pc:sldMkLst>
        <pc:spChg chg="mod">
          <ac:chgData name="Abhinav Kadyan" userId="d6051f5d-5031-43da-9fd2-87de6df243b0" providerId="ADAL" clId="{CF1C6EEC-0A29-42D8-A6EF-898A4BA81E50}" dt="2026-07-31T16:04:54.708" v="54"/>
          <ac:spMkLst>
            <pc:docMk/>
            <pc:sldMk cId="0" sldId="259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6:06:31.442" v="97" actId="6549"/>
          <ac:spMkLst>
            <pc:docMk/>
            <pc:sldMk cId="0" sldId="259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31.033" v="46" actId="478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Abhinav Kadyan" userId="d6051f5d-5031-43da-9fd2-87de6df243b0" providerId="ADAL" clId="{CF1C6EEC-0A29-42D8-A6EF-898A4BA81E50}" dt="2026-07-31T15:00:32.950" v="48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43.848" v="51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44.766" v="5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46.423" v="53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17" creationId="{35A353A1-86ED-719E-1087-6F2010249D97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19" creationId="{E192D69F-04CC-D474-9B22-677CBF3C974B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21" creationId="{75C4A917-A1D8-D4A3-D25B-74A07E85100D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23" creationId="{54137FA1-0FDC-2284-9E79-38723FC6AC9B}"/>
          </ac:spMkLst>
        </pc:spChg>
        <pc:spChg chg="del">
          <ac:chgData name="Abhinav Kadyan" userId="d6051f5d-5031-43da-9fd2-87de6df243b0" providerId="ADAL" clId="{CF1C6EEC-0A29-42D8-A6EF-898A4BA81E50}" dt="2026-07-31T15:00:37.466" v="49" actId="478"/>
          <ac:spMkLst>
            <pc:docMk/>
            <pc:sldMk cId="0" sldId="259"/>
            <ac:spMk id="25" creationId="{86725160-7A3A-61E8-D849-BEA4FA0412A9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27" creationId="{82A77252-F886-5515-08BC-4A2564E19F65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31" creationId="{E19FD6D9-1F2F-1E14-6271-C7B142982A4C}"/>
          </ac:spMkLst>
        </pc:spChg>
      </pc:sldChg>
      <pc:sldChg chg="delSp modSp mod">
        <pc:chgData name="Abhinav Kadyan" userId="d6051f5d-5031-43da-9fd2-87de6df243b0" providerId="ADAL" clId="{CF1C6EEC-0A29-42D8-A6EF-898A4BA81E50}" dt="2026-07-31T16:06:34.247" v="98" actId="6549"/>
        <pc:sldMkLst>
          <pc:docMk/>
          <pc:sldMk cId="0" sldId="260"/>
        </pc:sldMkLst>
        <pc:spChg chg="mod">
          <ac:chgData name="Abhinav Kadyan" userId="d6051f5d-5031-43da-9fd2-87de6df243b0" providerId="ADAL" clId="{CF1C6EEC-0A29-42D8-A6EF-898A4BA81E50}" dt="2026-07-31T16:05:48.670" v="85"/>
          <ac:spMkLst>
            <pc:docMk/>
            <pc:sldMk cId="0" sldId="260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6:06:34.247" v="98" actId="6549"/>
          <ac:spMkLst>
            <pc:docMk/>
            <pc:sldMk cId="0" sldId="260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0.715" v="78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2.600" v="79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3.703" v="80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7.091" v="82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5.599" v="81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17" creationId="{B4CF57A9-6502-1132-5865-098056E9A336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19" creationId="{A145DAD2-5AB1-C3CD-E1E7-12940F4CF732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1" creationId="{86F6190C-B047-7AB1-2D2B-6AF491CC7B8F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3" creationId="{F417B52B-EEF5-49E7-2EC6-1D1B21ACDC44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5" creationId="{D46AC40F-85F8-1A1E-4630-A19E3555521B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9" creationId="{03930622-8497-CD4F-2A57-427E9C1476C1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31" creationId="{C9E4814E-64CB-C189-310A-B58863C62AD6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33" creationId="{5D945358-70FD-B4CA-3C1A-019479F6E067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35" creationId="{BCC6E872-7C9A-5A11-051F-D7F2CC6746B8}"/>
          </ac:spMkLst>
        </pc:spChg>
        <pc:spChg chg="del">
          <ac:chgData name="Abhinav Kadyan" userId="d6051f5d-5031-43da-9fd2-87de6df243b0" providerId="ADAL" clId="{CF1C6EEC-0A29-42D8-A6EF-898A4BA81E50}" dt="2026-07-31T16:05:41.914" v="84" actId="478"/>
          <ac:spMkLst>
            <pc:docMk/>
            <pc:sldMk cId="0" sldId="260"/>
            <ac:spMk id="37" creationId="{7E243E0A-DC5F-6448-B779-5BF3B736793A}"/>
          </ac:spMkLst>
        </pc:spChg>
      </pc:sldChg>
    </pc:docChg>
  </pc:docChgLst>
  <pc:docChgLst>
    <pc:chgData name="Neha Kumari" userId="54637e18-9ef2-46ee-ae23-aa6a52b50086" providerId="ADAL" clId="{0AC61A1F-4280-4800-9AC7-22FE23A25F39}"/>
    <pc:docChg chg="modSld">
      <pc:chgData name="Neha Kumari" userId="54637e18-9ef2-46ee-ae23-aa6a52b50086" providerId="ADAL" clId="{0AC61A1F-4280-4800-9AC7-22FE23A25F39}" dt="2026-07-31T10:16:53.326" v="0" actId="22"/>
      <pc:docMkLst>
        <pc:docMk/>
      </pc:docMkLst>
      <pc:sldChg chg="addSp mod">
        <pc:chgData name="Neha Kumari" userId="54637e18-9ef2-46ee-ae23-aa6a52b50086" providerId="ADAL" clId="{0AC61A1F-4280-4800-9AC7-22FE23A25F39}" dt="2026-07-31T10:16:53.326" v="0" actId="22"/>
        <pc:sldMkLst>
          <pc:docMk/>
          <pc:sldMk cId="0" sldId="260"/>
        </pc:sldMkLst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17" creationId="{B4CF57A9-6502-1132-5865-098056E9A336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19" creationId="{A145DAD2-5AB1-C3CD-E1E7-12940F4CF732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1" creationId="{86F6190C-B047-7AB1-2D2B-6AF491CC7B8F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3" creationId="{F417B52B-EEF5-49E7-2EC6-1D1B21ACDC44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5" creationId="{D46AC40F-85F8-1A1E-4630-A19E3555521B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7" creationId="{7FD5C8F8-E6B9-6C10-9CB2-E596DCCF2CB1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3" creationId="{5D945358-70FD-B4CA-3C1A-019479F6E067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5" creationId="{BCC6E872-7C9A-5A11-051F-D7F2CC6746B8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7" creationId="{7E243E0A-DC5F-6448-B779-5BF3B736793A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9" creationId="{9F9CF1C7-31B5-696E-43EB-CBFCCA293B5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First slide requested to follow the hackathon reference-image style provided by the user.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66019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73968" y="6428232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d2969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2B">
              <a:alpha val="87000"/>
            </a:srgbClr>
          </a:solidFill>
          <a:ln w="12700">
            <a:solidFill>
              <a:srgbClr val="001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75488" y="438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75488" y="11430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822960" cy="0"/>
          </a:xfrm>
          <a:prstGeom prst="line">
            <a:avLst/>
          </a:prstGeom>
          <a:noFill/>
          <a:ln w="279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BOLD SOLUTIONS.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58775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REAL-WORLD IMPACT.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4538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299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7739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28254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328416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072384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4123944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92040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36008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66928" y="3977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name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920240" y="4078224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975104" y="3941064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hackathon name]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566928" y="44988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920240" y="4599432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975104" y="4462272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solution name]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66928" y="504748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481328" y="5138928"/>
            <a:ext cx="233172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1527048" y="501091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566928" y="553212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691640" y="5623560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1691640" y="5907024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1691640" y="6190488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1737360" y="549554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participant names and roles]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7973568" y="5522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Idea. Build. Scale.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8549640" y="5879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TOMORROW,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942832" y="61264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Customer Focus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the business problem and show a deep understanding of the customer's journey and pain points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68680" y="129844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1554480"/>
            <a:ext cx="548640" cy="54864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" y="1697126"/>
            <a:ext cx="263347" cy="2633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159105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The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212848"/>
            <a:ext cx="45628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Banking, healthcare, insurance, retail &amp; telecom are accelerating cloud adoption — legacy ETL stands in the 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9844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9672" y="1554480"/>
            <a:ext cx="548640" cy="54864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18" y="1697126"/>
            <a:ext cx="263347" cy="2633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23759" y="159105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Tribal Knowledge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212848"/>
            <a:ext cx="45628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Undocumented business rules survive only in the heads of a handful of senior engineers.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2160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4712" y="3977640"/>
            <a:ext cx="548640" cy="54864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358" y="4120286"/>
            <a:ext cx="263347" cy="2633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401421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Where the Pain Really 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636008"/>
            <a:ext cx="45628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Most migration effort is spent discovering hidden logic — before a single line is rewritten.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2160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19672" y="3977640"/>
            <a:ext cx="548640" cy="548640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letex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318" y="4120286"/>
            <a:ext cx="263347" cy="2633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23759" y="401421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Proof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636008"/>
            <a:ext cx="45628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Our sample legacy script hid 2 undocumented rules — a 90-day discount, a 24-month cutoff — with zero rationale in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 &amp; Innovation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practical and scalable framework with a clear step-by-step methodology for solving the challenge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868680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78507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19" y="1693103"/>
            <a:ext cx="289681" cy="2896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34639" y="138988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228600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Input &amp; AI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761488"/>
            <a:ext cx="209397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Legacy SQL + metadata read; business rules, tables &amp; dependencies extracted automatically.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3" y="2217420"/>
            <a:ext cx="274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84448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94276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187" y="1693103"/>
            <a:ext cx="289681" cy="2896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50408" y="138988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228600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Transformation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761488"/>
            <a:ext cx="209397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Legacy logic converted into a Snowflake / dbt-ready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2217420"/>
            <a:ext cx="274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10044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955" y="1693103"/>
            <a:ext cx="289681" cy="28968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66175" y="138988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228600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Human Review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2761488"/>
            <a:ext cx="209397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Every AI claim fact-checked against source; ambiguous rules routed to a human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19" y="2217420"/>
            <a:ext cx="2743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15984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25811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gitbra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2723" y="1693103"/>
            <a:ext cx="289681" cy="2896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81944" y="138988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228600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Migration Planning &amp;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2761488"/>
            <a:ext cx="2093976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Steps sequenced by dependency; migration report &amp; lineage diagram generated.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950208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5071"/>
                </a:solidFill>
                <a:latin typeface="Calibri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663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business rules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correctly identified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950208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5071"/>
                </a:solidFill>
                <a:latin typeface="Calibr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663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fabricated table or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column references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950208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005071"/>
                </a:solidFill>
                <a:latin typeface="Calibri"/>
              </a:rPr>
              <a:t>2 /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4663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ambiguous rules correctly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flagged for human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888736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484848"/>
                </a:solidFill>
                <a:latin typeface="Calibri"/>
              </a:rPr>
              <a:t>Measured on a live pipeline run against a representative legacy script — not a projected estimate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Out From Competitors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exactly what makes your solution unique and how it delivers better value than existing market options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5D940B18-426E-4527-8063-19DA82FCC888}"/>
              </a:ext>
            </a:extLst>
          </p:cNvPr>
          <p:cNvSpPr/>
          <p:nvPr/>
        </p:nvSpPr>
        <p:spPr>
          <a:xfrm>
            <a:off x="7708392" y="10378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lens</a:t>
            </a:r>
            <a:endParaRPr lang="en-US" sz="750" dirty="0"/>
          </a:p>
        </p:txBody>
      </p:sp>
      <p:sp>
        <p:nvSpPr>
          <p:cNvPr id="30" name="Rounded Rectangle 29"/>
          <p:cNvSpPr/>
          <p:nvPr/>
        </p:nvSpPr>
        <p:spPr>
          <a:xfrm>
            <a:off x="7635240" y="10058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1005840"/>
            <a:ext cx="12344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MARKET LENS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1435607"/>
            <a:ext cx="2368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SnowConvert /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AWS SCT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1" y="2139696"/>
            <a:ext cx="2185416" cy="1691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Automated syntax conversion</a:t>
            </a:r>
          </a:p>
          <a:p>
            <a:pPr algn="l">
              <a:lnSpc>
                <a:spcPct val="115000"/>
              </a:lnSpc>
            </a:pPr>
            <a:r>
              <a:rPr sz="400" b="0" i="0">
                <a:solidFill>
                  <a:srgbClr val="48484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THE GAP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No rule rationale or usable documentation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47872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21024" y="1435607"/>
            <a:ext cx="2368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BladeBridge /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Datometry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47872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12463" y="2139696"/>
            <a:ext cx="2185416" cy="1691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Automated transpile-and-lift</a:t>
            </a:r>
          </a:p>
          <a:p>
            <a:pPr algn="l">
              <a:lnSpc>
                <a:spcPct val="115000"/>
              </a:lnSpc>
            </a:pPr>
            <a:r>
              <a:rPr sz="400" b="0" i="0">
                <a:solidFill>
                  <a:srgbClr val="48484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THE GAP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Docs &amp; governance treated as afterthought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7064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216" y="1435607"/>
            <a:ext cx="2368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Generic AI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Copilots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7064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2139696"/>
            <a:ext cx="2185416" cy="1691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Fast, flexible code explanation</a:t>
            </a:r>
          </a:p>
          <a:p>
            <a:pPr algn="l">
              <a:lnSpc>
                <a:spcPct val="115000"/>
              </a:lnSpc>
            </a:pPr>
            <a:r>
              <a:rPr sz="400" b="0" i="0">
                <a:solidFill>
                  <a:srgbClr val="48484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THE GAP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No fact-check — can invent rules that don't exist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79408" y="1435607"/>
            <a:ext cx="2368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Our Framework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06256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15875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0848" y="2139696"/>
            <a:ext cx="2185416" cy="1691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B4D0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Rule extraction + validated transformation</a:t>
            </a:r>
          </a:p>
          <a:p>
            <a:pPr algn="l">
              <a:lnSpc>
                <a:spcPct val="115000"/>
              </a:lnSpc>
            </a:pPr>
            <a:r>
              <a:rPr sz="400" b="0" i="0">
                <a:solidFill>
                  <a:srgbClr val="48484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B4D0A"/>
                </a:solidFill>
                <a:latin typeface="Calibri"/>
              </a:rPr>
              <a:t>WHY IT WINS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Fact-checked, human- reviewed, vendor-agnostic</a:t>
            </a:r>
          </a:p>
        </p:txBody>
      </p:sp>
      <p:sp>
        <p:nvSpPr>
          <p:cNvPr id="48" name="Oval 47"/>
          <p:cNvSpPr/>
          <p:nvPr/>
        </p:nvSpPr>
        <p:spPr>
          <a:xfrm>
            <a:off x="914400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iletex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1" y="4297679"/>
            <a:ext cx="219456" cy="21945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490472" y="4123944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Documentation-first</a:t>
            </a:r>
          </a:p>
        </p:txBody>
      </p:sp>
      <p:sp>
        <p:nvSpPr>
          <p:cNvPr id="51" name="Oval 50"/>
          <p:cNvSpPr/>
          <p:nvPr/>
        </p:nvSpPr>
        <p:spPr>
          <a:xfrm>
            <a:off x="3593591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heck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3" y="4297679"/>
            <a:ext cx="219456" cy="2194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169663" y="4123944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Built-in fact-checking</a:t>
            </a:r>
          </a:p>
        </p:txBody>
      </p:sp>
      <p:sp>
        <p:nvSpPr>
          <p:cNvPr id="54" name="Oval 53"/>
          <p:cNvSpPr/>
          <p:nvPr/>
        </p:nvSpPr>
        <p:spPr>
          <a:xfrm>
            <a:off x="6272784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297679"/>
            <a:ext cx="219456" cy="21945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848856" y="4123944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Human-in-the-loop by design</a:t>
            </a:r>
          </a:p>
        </p:txBody>
      </p:sp>
      <p:sp>
        <p:nvSpPr>
          <p:cNvPr id="57" name="Oval 56"/>
          <p:cNvSpPr/>
          <p:nvPr/>
        </p:nvSpPr>
        <p:spPr>
          <a:xfrm>
            <a:off x="8951976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48" y="4297679"/>
            <a:ext cx="219456" cy="21945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528048" y="4123944"/>
            <a:ext cx="1874519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Not locked to one AI vendor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Business Growth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target buyer segments and prove the solution's potential for high scalability and market commercialization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9F9CF1C7-31B5-696E-43EB-CBFCCA293B5E}"/>
              </a:ext>
            </a:extLst>
          </p:cNvPr>
          <p:cNvSpPr/>
          <p:nvPr/>
        </p:nvSpPr>
        <p:spPr>
          <a:xfrm>
            <a:off x="7708392" y="105613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map</a:t>
            </a:r>
            <a:endParaRPr lang="en-US" sz="750" dirty="0"/>
          </a:p>
        </p:txBody>
      </p:sp>
      <p:sp>
        <p:nvSpPr>
          <p:cNvPr id="40" name="Rounded Rectangle 39"/>
          <p:cNvSpPr/>
          <p:nvPr/>
        </p:nvSpPr>
        <p:spPr>
          <a:xfrm>
            <a:off x="7635240" y="100584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1005840"/>
            <a:ext cx="1051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GTM 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1435607"/>
            <a:ext cx="3566160" cy="3886200"/>
          </a:xfrm>
          <a:prstGeom prst="roundRect">
            <a:avLst>
              <a:gd name="adj" fmla="val 7000"/>
            </a:avLst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3000" y="1709928"/>
            <a:ext cx="566928" cy="56692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01" y="1857329"/>
            <a:ext cx="272125" cy="27212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3000" y="24414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Target Segment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289864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AE0EA"/>
                </a:solidFill>
                <a:latin typeface="Calibri"/>
              </a:rPr>
              <a:t>Retail &amp; D2C brands modernizing legacy ETL to Snowflake.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3584448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9CFDA"/>
                </a:solidFill>
                <a:latin typeface="Calibri"/>
              </a:rPr>
              <a:t>Highest-value entry point: de-risking pricing, discount, and customer-tier logic during migration — not customer analytics or marketing efficiency, which this framework doesn't directly produce.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4608576"/>
            <a:ext cx="3017520" cy="10972"/>
          </a:xfrm>
          <a:prstGeom prst="roundRect">
            <a:avLst>
              <a:gd name="adj" fmla="val 0"/>
            </a:avLst>
          </a:prstGeom>
          <a:solidFill>
            <a:srgbClr val="2E6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754879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CAE0EA"/>
                </a:solidFill>
                <a:latin typeface="Calibri"/>
              </a:rPr>
              <a:t>Validated on 2 different legacy patterns — a single script and a multi-job workflow.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79" y="1435607"/>
            <a:ext cx="6583680" cy="141732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56047" y="1636775"/>
            <a:ext cx="475488" cy="475488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674" y="1760402"/>
            <a:ext cx="228234" cy="22823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77840" y="160019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5071"/>
                </a:solidFill>
                <a:latin typeface="Calibri"/>
              </a:rPr>
              <a:t>Path 1 — Diagnostic / Audit Offering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84080" y="1600199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1600199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READY TODAY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2002536"/>
            <a:ext cx="5532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Run the existing pipeline against a prospect's real legacy pipeline to surface undocumented risk before a full engagement is sold. Needs no new build.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54879" y="3054096"/>
            <a:ext cx="6583680" cy="141732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956047" y="3255264"/>
            <a:ext cx="475488" cy="475488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  <a:effectLst>
            <a:outerShdw blurRad="90000" dist="20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674" y="3378890"/>
            <a:ext cx="228234" cy="2282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577840" y="321868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5071"/>
                </a:solidFill>
                <a:latin typeface="Calibri"/>
              </a:rPr>
              <a:t>Path 2 — Tiered SaaS Accelerator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84080" y="32186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9C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218688"/>
            <a:ext cx="1371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REQUIRES BUILD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3621024"/>
            <a:ext cx="5532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Longer-term productized offering for repeat use across similar clients. Assumes a repeatable multi-tenant product that hasn't been built yet.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54879" y="4672583"/>
            <a:ext cx="6583680" cy="621792"/>
          </a:xfrm>
          <a:prstGeom prst="roundRect">
            <a:avLst>
              <a:gd name="adj" fmla="val 10000"/>
            </a:avLst>
          </a:prstGeom>
          <a:solidFill>
            <a:srgbClr val="FFF3EA"/>
          </a:solidFill>
          <a:ln w="12700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56047" y="4672583"/>
            <a:ext cx="618134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4A00"/>
                </a:solidFill>
                <a:latin typeface="Calibri"/>
              </a:rPr>
              <a:t>Honest status:  </a:t>
            </a:r>
            <a:r>
              <a:rPr sz="1050" b="0" i="0">
                <a:solidFill>
                  <a:srgbClr val="6B3E00"/>
                </a:solidFill>
                <a:latin typeface="Calibri"/>
              </a:rPr>
              <a:t>both are untested ideas, not validated business models — the next real client engagement is the opportunity to prove which one lands.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303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EXL Hackathon Participant Template</dc:title>
  <dc:subject>PptxGenJS Presentation</dc:subject>
  <dc:creator>Neha Kumari</dc:creator>
  <cp:lastModifiedBy>Abhinav Kadyan</cp:lastModifiedBy>
  <cp:revision>2</cp:revision>
  <dcterms:created xsi:type="dcterms:W3CDTF">2026-07-31T09:30:19Z</dcterms:created>
  <dcterms:modified xsi:type="dcterms:W3CDTF">2026-07-31T16:06:36Z</dcterms:modified>
</cp:coreProperties>
</file>